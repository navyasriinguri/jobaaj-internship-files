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1" r:id="rId6"/>
    <p:sldId id="264" r:id="rId7"/>
    <p:sldId id="265" r:id="rId8"/>
    <p:sldId id="266" r:id="rId9"/>
    <p:sldId id="267" r:id="rId10"/>
    <p:sldId id="268" r:id="rId11"/>
    <p:sldId id="269" r:id="rId12"/>
    <p:sldId id="271" r:id="rId13"/>
    <p:sldId id="272" r:id="rId14"/>
    <p:sldId id="27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13865A-5BB8-4491-A331-9C6C67938B1F}" type="datetimeFigureOut">
              <a:rPr lang="en-US" smtClean="0"/>
              <a:t>7/12/2025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AF598D-2095-4D97-8E01-4F1FCAFB27A6}" type="slidenum">
              <a:rPr lang="en-US" smtClean="0"/>
              <a:t>‹#›</a:t>
            </a:fld>
            <a:endParaRPr lang="en-US"/>
          </a:p>
        </p:txBody>
      </p:sp>
    </p:spTree>
    <p:extLst>
      <p:ext uri="{BB962C8B-B14F-4D97-AF65-F5344CB8AC3E}">
        <p14:creationId xmlns:p14="http://schemas.microsoft.com/office/powerpoint/2010/main" val="4165827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F598D-2095-4D97-8E01-4F1FCAFB27A6}" type="slidenum">
              <a:rPr lang="en-US" smtClean="0"/>
              <a:t>3</a:t>
            </a:fld>
            <a:endParaRPr lang="en-US"/>
          </a:p>
        </p:txBody>
      </p:sp>
    </p:spTree>
    <p:extLst>
      <p:ext uri="{BB962C8B-B14F-4D97-AF65-F5344CB8AC3E}">
        <p14:creationId xmlns:p14="http://schemas.microsoft.com/office/powerpoint/2010/main" val="506748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F598D-2095-4D97-8E01-4F1FCAFB27A6}" type="slidenum">
              <a:rPr lang="en-US" smtClean="0"/>
              <a:t>6</a:t>
            </a:fld>
            <a:endParaRPr lang="en-US"/>
          </a:p>
        </p:txBody>
      </p:sp>
    </p:spTree>
    <p:extLst>
      <p:ext uri="{BB962C8B-B14F-4D97-AF65-F5344CB8AC3E}">
        <p14:creationId xmlns:p14="http://schemas.microsoft.com/office/powerpoint/2010/main" val="31879116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F598D-2095-4D97-8E01-4F1FCAFB27A6}" type="slidenum">
              <a:rPr lang="en-US" smtClean="0"/>
              <a:t>13</a:t>
            </a:fld>
            <a:endParaRPr lang="en-US"/>
          </a:p>
        </p:txBody>
      </p:sp>
    </p:spTree>
    <p:extLst>
      <p:ext uri="{BB962C8B-B14F-4D97-AF65-F5344CB8AC3E}">
        <p14:creationId xmlns:p14="http://schemas.microsoft.com/office/powerpoint/2010/main" val="26552048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F598D-2095-4D97-8E01-4F1FCAFB27A6}" type="slidenum">
              <a:rPr lang="en-US" smtClean="0"/>
              <a:t>14</a:t>
            </a:fld>
            <a:endParaRPr lang="en-US"/>
          </a:p>
        </p:txBody>
      </p:sp>
    </p:spTree>
    <p:extLst>
      <p:ext uri="{BB962C8B-B14F-4D97-AF65-F5344CB8AC3E}">
        <p14:creationId xmlns:p14="http://schemas.microsoft.com/office/powerpoint/2010/main" val="10119303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4E264-F0F4-975B-37F9-6AF91784F6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13B5D79-67A9-27DF-6AE3-523BEE377D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38A3A7-8380-A488-6D98-17DB6E522647}"/>
              </a:ext>
            </a:extLst>
          </p:cNvPr>
          <p:cNvSpPr>
            <a:spLocks noGrp="1"/>
          </p:cNvSpPr>
          <p:nvPr>
            <p:ph type="dt" sz="half" idx="10"/>
          </p:nvPr>
        </p:nvSpPr>
        <p:spPr/>
        <p:txBody>
          <a:bodyPr/>
          <a:lstStyle/>
          <a:p>
            <a:fld id="{BA2EC5B3-B162-4A61-B02A-FA9163F8796A}" type="datetimeFigureOut">
              <a:rPr lang="en-US" smtClean="0"/>
              <a:t>7/12/2025</a:t>
            </a:fld>
            <a:endParaRPr lang="en-US"/>
          </a:p>
        </p:txBody>
      </p:sp>
      <p:sp>
        <p:nvSpPr>
          <p:cNvPr id="5" name="Footer Placeholder 4">
            <a:extLst>
              <a:ext uri="{FF2B5EF4-FFF2-40B4-BE49-F238E27FC236}">
                <a16:creationId xmlns:a16="http://schemas.microsoft.com/office/drawing/2014/main" id="{D2D5DF97-D8FF-AC3B-1EF1-F61E02E0F1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1A484C-B0AB-F1AD-8D0C-66935EFD0F4E}"/>
              </a:ext>
            </a:extLst>
          </p:cNvPr>
          <p:cNvSpPr>
            <a:spLocks noGrp="1"/>
          </p:cNvSpPr>
          <p:nvPr>
            <p:ph type="sldNum" sz="quarter" idx="12"/>
          </p:nvPr>
        </p:nvSpPr>
        <p:spPr/>
        <p:txBody>
          <a:bodyPr/>
          <a:lstStyle/>
          <a:p>
            <a:fld id="{CB931D61-2FE3-40BB-9C77-E13CC4E34E34}" type="slidenum">
              <a:rPr lang="en-US" smtClean="0"/>
              <a:t>‹#›</a:t>
            </a:fld>
            <a:endParaRPr lang="en-US"/>
          </a:p>
        </p:txBody>
      </p:sp>
    </p:spTree>
    <p:extLst>
      <p:ext uri="{BB962C8B-B14F-4D97-AF65-F5344CB8AC3E}">
        <p14:creationId xmlns:p14="http://schemas.microsoft.com/office/powerpoint/2010/main" val="3595856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FA3E1-538C-58A3-9911-27B2985B62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FE7F9D-950A-BA05-F9C7-14A2A5BB8F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383FA8-8A4C-8975-3C63-E4000EEB6468}"/>
              </a:ext>
            </a:extLst>
          </p:cNvPr>
          <p:cNvSpPr>
            <a:spLocks noGrp="1"/>
          </p:cNvSpPr>
          <p:nvPr>
            <p:ph type="dt" sz="half" idx="10"/>
          </p:nvPr>
        </p:nvSpPr>
        <p:spPr/>
        <p:txBody>
          <a:bodyPr/>
          <a:lstStyle/>
          <a:p>
            <a:fld id="{BA2EC5B3-B162-4A61-B02A-FA9163F8796A}" type="datetimeFigureOut">
              <a:rPr lang="en-US" smtClean="0"/>
              <a:t>7/12/2025</a:t>
            </a:fld>
            <a:endParaRPr lang="en-US"/>
          </a:p>
        </p:txBody>
      </p:sp>
      <p:sp>
        <p:nvSpPr>
          <p:cNvPr id="5" name="Footer Placeholder 4">
            <a:extLst>
              <a:ext uri="{FF2B5EF4-FFF2-40B4-BE49-F238E27FC236}">
                <a16:creationId xmlns:a16="http://schemas.microsoft.com/office/drawing/2014/main" id="{7047C7C2-6050-BDD6-1B45-592FEF89FD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F702B7-C42C-6A0F-9939-5425AF4E3BFD}"/>
              </a:ext>
            </a:extLst>
          </p:cNvPr>
          <p:cNvSpPr>
            <a:spLocks noGrp="1"/>
          </p:cNvSpPr>
          <p:nvPr>
            <p:ph type="sldNum" sz="quarter" idx="12"/>
          </p:nvPr>
        </p:nvSpPr>
        <p:spPr/>
        <p:txBody>
          <a:bodyPr/>
          <a:lstStyle/>
          <a:p>
            <a:fld id="{CB931D61-2FE3-40BB-9C77-E13CC4E34E34}" type="slidenum">
              <a:rPr lang="en-US" smtClean="0"/>
              <a:t>‹#›</a:t>
            </a:fld>
            <a:endParaRPr lang="en-US"/>
          </a:p>
        </p:txBody>
      </p:sp>
    </p:spTree>
    <p:extLst>
      <p:ext uri="{BB962C8B-B14F-4D97-AF65-F5344CB8AC3E}">
        <p14:creationId xmlns:p14="http://schemas.microsoft.com/office/powerpoint/2010/main" val="1927033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51CA7-F405-BC36-2D5B-74D9798466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5E65517-8222-DB77-9BEB-A86C543F127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32F303-B523-1742-F694-AAB844BEC425}"/>
              </a:ext>
            </a:extLst>
          </p:cNvPr>
          <p:cNvSpPr>
            <a:spLocks noGrp="1"/>
          </p:cNvSpPr>
          <p:nvPr>
            <p:ph type="dt" sz="half" idx="10"/>
          </p:nvPr>
        </p:nvSpPr>
        <p:spPr/>
        <p:txBody>
          <a:bodyPr/>
          <a:lstStyle/>
          <a:p>
            <a:fld id="{BA2EC5B3-B162-4A61-B02A-FA9163F8796A}" type="datetimeFigureOut">
              <a:rPr lang="en-US" smtClean="0"/>
              <a:t>7/12/2025</a:t>
            </a:fld>
            <a:endParaRPr lang="en-US"/>
          </a:p>
        </p:txBody>
      </p:sp>
      <p:sp>
        <p:nvSpPr>
          <p:cNvPr id="5" name="Footer Placeholder 4">
            <a:extLst>
              <a:ext uri="{FF2B5EF4-FFF2-40B4-BE49-F238E27FC236}">
                <a16:creationId xmlns:a16="http://schemas.microsoft.com/office/drawing/2014/main" id="{45E88DA4-E6CB-0B31-FEC6-90B0521FA3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D6B0A7-607E-1955-B311-EAC5DEA0476A}"/>
              </a:ext>
            </a:extLst>
          </p:cNvPr>
          <p:cNvSpPr>
            <a:spLocks noGrp="1"/>
          </p:cNvSpPr>
          <p:nvPr>
            <p:ph type="sldNum" sz="quarter" idx="12"/>
          </p:nvPr>
        </p:nvSpPr>
        <p:spPr/>
        <p:txBody>
          <a:bodyPr/>
          <a:lstStyle/>
          <a:p>
            <a:fld id="{CB931D61-2FE3-40BB-9C77-E13CC4E34E34}" type="slidenum">
              <a:rPr lang="en-US" smtClean="0"/>
              <a:t>‹#›</a:t>
            </a:fld>
            <a:endParaRPr lang="en-US"/>
          </a:p>
        </p:txBody>
      </p:sp>
    </p:spTree>
    <p:extLst>
      <p:ext uri="{BB962C8B-B14F-4D97-AF65-F5344CB8AC3E}">
        <p14:creationId xmlns:p14="http://schemas.microsoft.com/office/powerpoint/2010/main" val="2157051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3FD27-3808-A592-DD8D-D3BC25BA71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584CCF-3726-0A43-4A8F-9468B898B8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104114-C742-50D7-3222-58FF0BCF6A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4BEDA3-9CF7-B8D1-52FB-CDBC72FA7CF5}"/>
              </a:ext>
            </a:extLst>
          </p:cNvPr>
          <p:cNvSpPr>
            <a:spLocks noGrp="1"/>
          </p:cNvSpPr>
          <p:nvPr>
            <p:ph type="dt" sz="half" idx="10"/>
          </p:nvPr>
        </p:nvSpPr>
        <p:spPr/>
        <p:txBody>
          <a:bodyPr/>
          <a:lstStyle/>
          <a:p>
            <a:fld id="{BA2EC5B3-B162-4A61-B02A-FA9163F8796A}" type="datetimeFigureOut">
              <a:rPr lang="en-US" smtClean="0"/>
              <a:t>7/12/2025</a:t>
            </a:fld>
            <a:endParaRPr lang="en-US"/>
          </a:p>
        </p:txBody>
      </p:sp>
      <p:sp>
        <p:nvSpPr>
          <p:cNvPr id="6" name="Footer Placeholder 5">
            <a:extLst>
              <a:ext uri="{FF2B5EF4-FFF2-40B4-BE49-F238E27FC236}">
                <a16:creationId xmlns:a16="http://schemas.microsoft.com/office/drawing/2014/main" id="{B60EFB08-DE6F-1F30-2CF6-AA0DD27DDD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BDC2FA-07D2-D942-0C78-903C9A1F44B0}"/>
              </a:ext>
            </a:extLst>
          </p:cNvPr>
          <p:cNvSpPr>
            <a:spLocks noGrp="1"/>
          </p:cNvSpPr>
          <p:nvPr>
            <p:ph type="sldNum" sz="quarter" idx="12"/>
          </p:nvPr>
        </p:nvSpPr>
        <p:spPr/>
        <p:txBody>
          <a:bodyPr/>
          <a:lstStyle/>
          <a:p>
            <a:fld id="{CB931D61-2FE3-40BB-9C77-E13CC4E34E34}" type="slidenum">
              <a:rPr lang="en-US" smtClean="0"/>
              <a:t>‹#›</a:t>
            </a:fld>
            <a:endParaRPr lang="en-US"/>
          </a:p>
        </p:txBody>
      </p:sp>
    </p:spTree>
    <p:extLst>
      <p:ext uri="{BB962C8B-B14F-4D97-AF65-F5344CB8AC3E}">
        <p14:creationId xmlns:p14="http://schemas.microsoft.com/office/powerpoint/2010/main" val="3177076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8A8F6-2E63-6FC8-E037-A28D27B4D72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BD7B778-C5B0-8B4B-0419-6091466971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6AE817-C766-41CF-AC06-D84C0B1D94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35066D7-311E-AE42-D32A-52DB145FA1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8AD3F5-2391-8C6F-53BB-17A4D60428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4F387BE-3C7A-2CE5-FA6F-A219B8F7F134}"/>
              </a:ext>
            </a:extLst>
          </p:cNvPr>
          <p:cNvSpPr>
            <a:spLocks noGrp="1"/>
          </p:cNvSpPr>
          <p:nvPr>
            <p:ph type="dt" sz="half" idx="10"/>
          </p:nvPr>
        </p:nvSpPr>
        <p:spPr/>
        <p:txBody>
          <a:bodyPr/>
          <a:lstStyle/>
          <a:p>
            <a:fld id="{BA2EC5B3-B162-4A61-B02A-FA9163F8796A}" type="datetimeFigureOut">
              <a:rPr lang="en-US" smtClean="0"/>
              <a:t>7/12/2025</a:t>
            </a:fld>
            <a:endParaRPr lang="en-US"/>
          </a:p>
        </p:txBody>
      </p:sp>
      <p:sp>
        <p:nvSpPr>
          <p:cNvPr id="8" name="Footer Placeholder 7">
            <a:extLst>
              <a:ext uri="{FF2B5EF4-FFF2-40B4-BE49-F238E27FC236}">
                <a16:creationId xmlns:a16="http://schemas.microsoft.com/office/drawing/2014/main" id="{0164E619-E396-14DC-6420-1D5EC34CAB7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34EB9F-A0C7-EC37-E87B-78398C5CAE7F}"/>
              </a:ext>
            </a:extLst>
          </p:cNvPr>
          <p:cNvSpPr>
            <a:spLocks noGrp="1"/>
          </p:cNvSpPr>
          <p:nvPr>
            <p:ph type="sldNum" sz="quarter" idx="12"/>
          </p:nvPr>
        </p:nvSpPr>
        <p:spPr/>
        <p:txBody>
          <a:bodyPr/>
          <a:lstStyle/>
          <a:p>
            <a:fld id="{CB931D61-2FE3-40BB-9C77-E13CC4E34E34}" type="slidenum">
              <a:rPr lang="en-US" smtClean="0"/>
              <a:t>‹#›</a:t>
            </a:fld>
            <a:endParaRPr lang="en-US"/>
          </a:p>
        </p:txBody>
      </p:sp>
    </p:spTree>
    <p:extLst>
      <p:ext uri="{BB962C8B-B14F-4D97-AF65-F5344CB8AC3E}">
        <p14:creationId xmlns:p14="http://schemas.microsoft.com/office/powerpoint/2010/main" val="2820229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F459A-E225-C3B3-1924-1CA323E422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230733B-B72B-1DB9-F5FC-F78DFD95A8D7}"/>
              </a:ext>
            </a:extLst>
          </p:cNvPr>
          <p:cNvSpPr>
            <a:spLocks noGrp="1"/>
          </p:cNvSpPr>
          <p:nvPr>
            <p:ph type="dt" sz="half" idx="10"/>
          </p:nvPr>
        </p:nvSpPr>
        <p:spPr/>
        <p:txBody>
          <a:bodyPr/>
          <a:lstStyle/>
          <a:p>
            <a:fld id="{BA2EC5B3-B162-4A61-B02A-FA9163F8796A}" type="datetimeFigureOut">
              <a:rPr lang="en-US" smtClean="0"/>
              <a:t>7/12/2025</a:t>
            </a:fld>
            <a:endParaRPr lang="en-US"/>
          </a:p>
        </p:txBody>
      </p:sp>
      <p:sp>
        <p:nvSpPr>
          <p:cNvPr id="4" name="Footer Placeholder 3">
            <a:extLst>
              <a:ext uri="{FF2B5EF4-FFF2-40B4-BE49-F238E27FC236}">
                <a16:creationId xmlns:a16="http://schemas.microsoft.com/office/drawing/2014/main" id="{5E8F4BF0-0A23-C588-998F-EE3A0C204AA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96AEDD2-2171-E4F4-4C35-0DBE1C65FB3E}"/>
              </a:ext>
            </a:extLst>
          </p:cNvPr>
          <p:cNvSpPr>
            <a:spLocks noGrp="1"/>
          </p:cNvSpPr>
          <p:nvPr>
            <p:ph type="sldNum" sz="quarter" idx="12"/>
          </p:nvPr>
        </p:nvSpPr>
        <p:spPr/>
        <p:txBody>
          <a:bodyPr/>
          <a:lstStyle/>
          <a:p>
            <a:fld id="{CB931D61-2FE3-40BB-9C77-E13CC4E34E34}" type="slidenum">
              <a:rPr lang="en-US" smtClean="0"/>
              <a:t>‹#›</a:t>
            </a:fld>
            <a:endParaRPr lang="en-US"/>
          </a:p>
        </p:txBody>
      </p:sp>
    </p:spTree>
    <p:extLst>
      <p:ext uri="{BB962C8B-B14F-4D97-AF65-F5344CB8AC3E}">
        <p14:creationId xmlns:p14="http://schemas.microsoft.com/office/powerpoint/2010/main" val="654454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69355F-8B52-1ADD-453A-4034AB550B27}"/>
              </a:ext>
            </a:extLst>
          </p:cNvPr>
          <p:cNvSpPr>
            <a:spLocks noGrp="1"/>
          </p:cNvSpPr>
          <p:nvPr>
            <p:ph type="dt" sz="half" idx="10"/>
          </p:nvPr>
        </p:nvSpPr>
        <p:spPr/>
        <p:txBody>
          <a:bodyPr/>
          <a:lstStyle/>
          <a:p>
            <a:fld id="{BA2EC5B3-B162-4A61-B02A-FA9163F8796A}" type="datetimeFigureOut">
              <a:rPr lang="en-US" smtClean="0"/>
              <a:t>7/12/2025</a:t>
            </a:fld>
            <a:endParaRPr lang="en-US"/>
          </a:p>
        </p:txBody>
      </p:sp>
      <p:sp>
        <p:nvSpPr>
          <p:cNvPr id="3" name="Footer Placeholder 2">
            <a:extLst>
              <a:ext uri="{FF2B5EF4-FFF2-40B4-BE49-F238E27FC236}">
                <a16:creationId xmlns:a16="http://schemas.microsoft.com/office/drawing/2014/main" id="{945134D5-9D33-1BB0-5301-D45E3194421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020ACF4-9B90-C721-729C-F7291863CFF4}"/>
              </a:ext>
            </a:extLst>
          </p:cNvPr>
          <p:cNvSpPr>
            <a:spLocks noGrp="1"/>
          </p:cNvSpPr>
          <p:nvPr>
            <p:ph type="sldNum" sz="quarter" idx="12"/>
          </p:nvPr>
        </p:nvSpPr>
        <p:spPr/>
        <p:txBody>
          <a:bodyPr/>
          <a:lstStyle/>
          <a:p>
            <a:fld id="{CB931D61-2FE3-40BB-9C77-E13CC4E34E34}" type="slidenum">
              <a:rPr lang="en-US" smtClean="0"/>
              <a:t>‹#›</a:t>
            </a:fld>
            <a:endParaRPr lang="en-US"/>
          </a:p>
        </p:txBody>
      </p:sp>
    </p:spTree>
    <p:extLst>
      <p:ext uri="{BB962C8B-B14F-4D97-AF65-F5344CB8AC3E}">
        <p14:creationId xmlns:p14="http://schemas.microsoft.com/office/powerpoint/2010/main" val="23276688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C29FB-3736-6697-AF7F-64A977AB3D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8B40918-9A5C-A276-59E5-E66CF1B778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3F5C2C9-CC7A-62B8-1F64-805511EA52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4429C6-42AD-8B2E-BD37-710306B00637}"/>
              </a:ext>
            </a:extLst>
          </p:cNvPr>
          <p:cNvSpPr>
            <a:spLocks noGrp="1"/>
          </p:cNvSpPr>
          <p:nvPr>
            <p:ph type="dt" sz="half" idx="10"/>
          </p:nvPr>
        </p:nvSpPr>
        <p:spPr/>
        <p:txBody>
          <a:bodyPr/>
          <a:lstStyle/>
          <a:p>
            <a:fld id="{BA2EC5B3-B162-4A61-B02A-FA9163F8796A}" type="datetimeFigureOut">
              <a:rPr lang="en-US" smtClean="0"/>
              <a:t>7/12/2025</a:t>
            </a:fld>
            <a:endParaRPr lang="en-US"/>
          </a:p>
        </p:txBody>
      </p:sp>
      <p:sp>
        <p:nvSpPr>
          <p:cNvPr id="6" name="Footer Placeholder 5">
            <a:extLst>
              <a:ext uri="{FF2B5EF4-FFF2-40B4-BE49-F238E27FC236}">
                <a16:creationId xmlns:a16="http://schemas.microsoft.com/office/drawing/2014/main" id="{0B642BD8-56BE-531E-F1A1-F6B1663802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F7DA07-225B-A01A-96BE-6AF408155E69}"/>
              </a:ext>
            </a:extLst>
          </p:cNvPr>
          <p:cNvSpPr>
            <a:spLocks noGrp="1"/>
          </p:cNvSpPr>
          <p:nvPr>
            <p:ph type="sldNum" sz="quarter" idx="12"/>
          </p:nvPr>
        </p:nvSpPr>
        <p:spPr/>
        <p:txBody>
          <a:bodyPr/>
          <a:lstStyle/>
          <a:p>
            <a:fld id="{CB931D61-2FE3-40BB-9C77-E13CC4E34E34}" type="slidenum">
              <a:rPr lang="en-US" smtClean="0"/>
              <a:t>‹#›</a:t>
            </a:fld>
            <a:endParaRPr lang="en-US"/>
          </a:p>
        </p:txBody>
      </p:sp>
    </p:spTree>
    <p:extLst>
      <p:ext uri="{BB962C8B-B14F-4D97-AF65-F5344CB8AC3E}">
        <p14:creationId xmlns:p14="http://schemas.microsoft.com/office/powerpoint/2010/main" val="1084397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8042A-5FF4-B189-1BE4-07134E3398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45D1749-635A-CC23-7A7C-BAC7F332C8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002BC09-4D31-AA95-F034-450E1BB1F0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6968EE-67A7-03A4-50F7-263258E6C738}"/>
              </a:ext>
            </a:extLst>
          </p:cNvPr>
          <p:cNvSpPr>
            <a:spLocks noGrp="1"/>
          </p:cNvSpPr>
          <p:nvPr>
            <p:ph type="dt" sz="half" idx="10"/>
          </p:nvPr>
        </p:nvSpPr>
        <p:spPr/>
        <p:txBody>
          <a:bodyPr/>
          <a:lstStyle/>
          <a:p>
            <a:fld id="{BA2EC5B3-B162-4A61-B02A-FA9163F8796A}" type="datetimeFigureOut">
              <a:rPr lang="en-US" smtClean="0"/>
              <a:t>7/12/2025</a:t>
            </a:fld>
            <a:endParaRPr lang="en-US"/>
          </a:p>
        </p:txBody>
      </p:sp>
      <p:sp>
        <p:nvSpPr>
          <p:cNvPr id="6" name="Footer Placeholder 5">
            <a:extLst>
              <a:ext uri="{FF2B5EF4-FFF2-40B4-BE49-F238E27FC236}">
                <a16:creationId xmlns:a16="http://schemas.microsoft.com/office/drawing/2014/main" id="{452F35DF-6008-8691-BD05-303F9B9A9C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35D35D-F117-A44F-CC42-7FA44F094362}"/>
              </a:ext>
            </a:extLst>
          </p:cNvPr>
          <p:cNvSpPr>
            <a:spLocks noGrp="1"/>
          </p:cNvSpPr>
          <p:nvPr>
            <p:ph type="sldNum" sz="quarter" idx="12"/>
          </p:nvPr>
        </p:nvSpPr>
        <p:spPr/>
        <p:txBody>
          <a:bodyPr/>
          <a:lstStyle/>
          <a:p>
            <a:fld id="{CB931D61-2FE3-40BB-9C77-E13CC4E34E34}" type="slidenum">
              <a:rPr lang="en-US" smtClean="0"/>
              <a:t>‹#›</a:t>
            </a:fld>
            <a:endParaRPr lang="en-US"/>
          </a:p>
        </p:txBody>
      </p:sp>
    </p:spTree>
    <p:extLst>
      <p:ext uri="{BB962C8B-B14F-4D97-AF65-F5344CB8AC3E}">
        <p14:creationId xmlns:p14="http://schemas.microsoft.com/office/powerpoint/2010/main" val="96172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C84AA-748A-B83C-3363-52D5C8CB10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AD98D93-BE26-5247-85C0-E078DA11C7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EE46EA-0E61-CF82-55D9-539FDB485042}"/>
              </a:ext>
            </a:extLst>
          </p:cNvPr>
          <p:cNvSpPr>
            <a:spLocks noGrp="1"/>
          </p:cNvSpPr>
          <p:nvPr>
            <p:ph type="dt" sz="half" idx="10"/>
          </p:nvPr>
        </p:nvSpPr>
        <p:spPr/>
        <p:txBody>
          <a:bodyPr/>
          <a:lstStyle/>
          <a:p>
            <a:fld id="{BA2EC5B3-B162-4A61-B02A-FA9163F8796A}" type="datetimeFigureOut">
              <a:rPr lang="en-US" smtClean="0"/>
              <a:t>7/12/2025</a:t>
            </a:fld>
            <a:endParaRPr lang="en-US"/>
          </a:p>
        </p:txBody>
      </p:sp>
      <p:sp>
        <p:nvSpPr>
          <p:cNvPr id="5" name="Footer Placeholder 4">
            <a:extLst>
              <a:ext uri="{FF2B5EF4-FFF2-40B4-BE49-F238E27FC236}">
                <a16:creationId xmlns:a16="http://schemas.microsoft.com/office/drawing/2014/main" id="{2CA52DBD-976B-1082-035C-ABF4E7DB28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174B55-4F03-C932-5ECE-C55E9E81BC8D}"/>
              </a:ext>
            </a:extLst>
          </p:cNvPr>
          <p:cNvSpPr>
            <a:spLocks noGrp="1"/>
          </p:cNvSpPr>
          <p:nvPr>
            <p:ph type="sldNum" sz="quarter" idx="12"/>
          </p:nvPr>
        </p:nvSpPr>
        <p:spPr/>
        <p:txBody>
          <a:bodyPr/>
          <a:lstStyle/>
          <a:p>
            <a:fld id="{CB931D61-2FE3-40BB-9C77-E13CC4E34E34}" type="slidenum">
              <a:rPr lang="en-US" smtClean="0"/>
              <a:t>‹#›</a:t>
            </a:fld>
            <a:endParaRPr lang="en-US"/>
          </a:p>
        </p:txBody>
      </p:sp>
    </p:spTree>
    <p:extLst>
      <p:ext uri="{BB962C8B-B14F-4D97-AF65-F5344CB8AC3E}">
        <p14:creationId xmlns:p14="http://schemas.microsoft.com/office/powerpoint/2010/main" val="1834754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EABD91-223E-E1DC-6766-FFC12B90702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E7E7BE9-1C9F-4796-60F4-D3C143522D8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476001-33CE-2E34-E312-005CADA1E487}"/>
              </a:ext>
            </a:extLst>
          </p:cNvPr>
          <p:cNvSpPr>
            <a:spLocks noGrp="1"/>
          </p:cNvSpPr>
          <p:nvPr>
            <p:ph type="dt" sz="half" idx="10"/>
          </p:nvPr>
        </p:nvSpPr>
        <p:spPr/>
        <p:txBody>
          <a:bodyPr/>
          <a:lstStyle/>
          <a:p>
            <a:fld id="{BA2EC5B3-B162-4A61-B02A-FA9163F8796A}" type="datetimeFigureOut">
              <a:rPr lang="en-US" smtClean="0"/>
              <a:t>7/12/2025</a:t>
            </a:fld>
            <a:endParaRPr lang="en-US"/>
          </a:p>
        </p:txBody>
      </p:sp>
      <p:sp>
        <p:nvSpPr>
          <p:cNvPr id="5" name="Footer Placeholder 4">
            <a:extLst>
              <a:ext uri="{FF2B5EF4-FFF2-40B4-BE49-F238E27FC236}">
                <a16:creationId xmlns:a16="http://schemas.microsoft.com/office/drawing/2014/main" id="{9D69F3A6-C27E-A21F-0F5F-F6C9D447D9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5839D1-4228-35AC-D532-3817EC385819}"/>
              </a:ext>
            </a:extLst>
          </p:cNvPr>
          <p:cNvSpPr>
            <a:spLocks noGrp="1"/>
          </p:cNvSpPr>
          <p:nvPr>
            <p:ph type="sldNum" sz="quarter" idx="12"/>
          </p:nvPr>
        </p:nvSpPr>
        <p:spPr/>
        <p:txBody>
          <a:bodyPr/>
          <a:lstStyle/>
          <a:p>
            <a:fld id="{CB931D61-2FE3-40BB-9C77-E13CC4E34E34}" type="slidenum">
              <a:rPr lang="en-US" smtClean="0"/>
              <a:t>‹#›</a:t>
            </a:fld>
            <a:endParaRPr lang="en-US"/>
          </a:p>
        </p:txBody>
      </p:sp>
    </p:spTree>
    <p:extLst>
      <p:ext uri="{BB962C8B-B14F-4D97-AF65-F5344CB8AC3E}">
        <p14:creationId xmlns:p14="http://schemas.microsoft.com/office/powerpoint/2010/main" val="2511241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14AB9B-38DA-FC81-F243-B9A8119333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E47FE2F-6604-F98B-4C29-0475D48CA2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6333A2-A3E7-75DC-F626-D3397A5B14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2EC5B3-B162-4A61-B02A-FA9163F8796A}" type="datetimeFigureOut">
              <a:rPr lang="en-US" smtClean="0"/>
              <a:t>7/12/2025</a:t>
            </a:fld>
            <a:endParaRPr lang="en-US"/>
          </a:p>
        </p:txBody>
      </p:sp>
      <p:sp>
        <p:nvSpPr>
          <p:cNvPr id="5" name="Footer Placeholder 4">
            <a:extLst>
              <a:ext uri="{FF2B5EF4-FFF2-40B4-BE49-F238E27FC236}">
                <a16:creationId xmlns:a16="http://schemas.microsoft.com/office/drawing/2014/main" id="{F4C7A025-8C29-9B7D-29D8-8A1BAB729A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59C3DD3-B940-FA24-90F5-D913CC8A1E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931D61-2FE3-40BB-9C77-E13CC4E34E34}" type="slidenum">
              <a:rPr lang="en-US" smtClean="0"/>
              <a:t>‹#›</a:t>
            </a:fld>
            <a:endParaRPr lang="en-US"/>
          </a:p>
        </p:txBody>
      </p:sp>
    </p:spTree>
    <p:extLst>
      <p:ext uri="{BB962C8B-B14F-4D97-AF65-F5344CB8AC3E}">
        <p14:creationId xmlns:p14="http://schemas.microsoft.com/office/powerpoint/2010/main" val="21600423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JPG"/><Relationship Id="rId5" Type="http://schemas.openxmlformats.org/officeDocument/2006/relationships/image" Target="../media/image9.JPG"/><Relationship Id="rId10" Type="http://schemas.openxmlformats.org/officeDocument/2006/relationships/image" Target="../media/image14.JPG"/><Relationship Id="rId4" Type="http://schemas.openxmlformats.org/officeDocument/2006/relationships/image" Target="../media/image8.JPG"/><Relationship Id="rId9" Type="http://schemas.openxmlformats.org/officeDocument/2006/relationships/image" Target="../media/image13.JP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s://github.com/Navyasriinguri" TargetMode="External"/><Relationship Id="rId5" Type="http://schemas.openxmlformats.org/officeDocument/2006/relationships/hyperlink" Target="https://www.linkedin.com/in/navya-inguri-1371b3180/" TargetMode="Externa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7" name="Picture 16" descr="A hand touching a screen with icons">
            <a:extLst>
              <a:ext uri="{FF2B5EF4-FFF2-40B4-BE49-F238E27FC236}">
                <a16:creationId xmlns:a16="http://schemas.microsoft.com/office/drawing/2014/main" id="{0C62E496-0DB3-4747-FA16-D1BC7D375268}"/>
              </a:ext>
            </a:extLst>
          </p:cNvPr>
          <p:cNvPicPr>
            <a:picLocks noChangeAspect="1"/>
          </p:cNvPicPr>
          <p:nvPr/>
        </p:nvPicPr>
        <p:blipFill>
          <a:blip r:embed="rId2">
            <a:extLst>
              <a:ext uri="{28A0092B-C50C-407E-A947-70E740481C1C}">
                <a14:useLocalDpi xmlns:a14="http://schemas.microsoft.com/office/drawing/2010/main" val="0"/>
              </a:ext>
            </a:extLst>
          </a:blip>
          <a:srcRect b="8924"/>
          <a:stretch>
            <a:fillRect/>
          </a:stretch>
        </p:blipFill>
        <p:spPr>
          <a:xfrm>
            <a:off x="20" y="1282"/>
            <a:ext cx="12191980" cy="6856718"/>
          </a:xfrm>
          <a:prstGeom prst="rect">
            <a:avLst/>
          </a:prstGeom>
        </p:spPr>
      </p:pic>
      <p:sp>
        <p:nvSpPr>
          <p:cNvPr id="9" name="TextBox 8">
            <a:extLst>
              <a:ext uri="{FF2B5EF4-FFF2-40B4-BE49-F238E27FC236}">
                <a16:creationId xmlns:a16="http://schemas.microsoft.com/office/drawing/2014/main" id="{9DE52A9B-89C7-5932-9A17-95360C1EC2DC}"/>
              </a:ext>
            </a:extLst>
          </p:cNvPr>
          <p:cNvSpPr txBox="1"/>
          <p:nvPr/>
        </p:nvSpPr>
        <p:spPr>
          <a:xfrm flipH="1">
            <a:off x="10414000" y="5932269"/>
            <a:ext cx="2527300" cy="784830"/>
          </a:xfrm>
          <a:prstGeom prst="rect">
            <a:avLst/>
          </a:prstGeom>
          <a:noFill/>
        </p:spPr>
        <p:txBody>
          <a:bodyPr wrap="square">
            <a:spAutoFit/>
          </a:bodyPr>
          <a:lstStyle/>
          <a:p>
            <a:pPr>
              <a:spcAft>
                <a:spcPts val="600"/>
              </a:spcAft>
            </a:pPr>
            <a:r>
              <a:rPr lang="en-US" sz="2000" b="1" dirty="0">
                <a:solidFill>
                  <a:schemeClr val="bg1"/>
                </a:solidFill>
              </a:rPr>
              <a:t>Present By </a:t>
            </a:r>
          </a:p>
          <a:p>
            <a:pPr>
              <a:spcAft>
                <a:spcPts val="600"/>
              </a:spcAft>
            </a:pPr>
            <a:r>
              <a:rPr lang="en-US" sz="2000" b="1" dirty="0">
                <a:solidFill>
                  <a:schemeClr val="bg1"/>
                </a:solidFill>
              </a:rPr>
              <a:t>Navya Inguri</a:t>
            </a:r>
          </a:p>
        </p:txBody>
      </p:sp>
    </p:spTree>
    <p:extLst>
      <p:ext uri="{BB962C8B-B14F-4D97-AF65-F5344CB8AC3E}">
        <p14:creationId xmlns:p14="http://schemas.microsoft.com/office/powerpoint/2010/main" val="4283767428"/>
      </p:ext>
    </p:extLst>
  </p:cSld>
  <p:clrMapOvr>
    <a:masterClrMapping/>
  </p:clrMapOvr>
  <mc:AlternateContent xmlns:mc="http://schemas.openxmlformats.org/markup-compatibility/2006">
    <mc:Choice xmlns:p14="http://schemas.microsoft.com/office/powerpoint/2010/main" Requires="p14">
      <p:transition spd="slow" p14:dur="2000" advTm="91568"/>
    </mc:Choice>
    <mc:Fallback>
      <p:transition spd="slow" advTm="9156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207B083-EAC0-A5BB-C369-C9589EC7F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99B8C7-8FF7-E750-3096-54963934BAFA}"/>
              </a:ext>
            </a:extLst>
          </p:cNvPr>
          <p:cNvSpPr>
            <a:spLocks noGrp="1"/>
          </p:cNvSpPr>
          <p:nvPr>
            <p:ph type="title"/>
          </p:nvPr>
        </p:nvSpPr>
        <p:spPr>
          <a:xfrm>
            <a:off x="614677" y="603504"/>
            <a:ext cx="10872216" cy="1527048"/>
          </a:xfrm>
        </p:spPr>
        <p:txBody>
          <a:bodyPr anchor="b">
            <a:normAutofit/>
          </a:bodyPr>
          <a:lstStyle/>
          <a:p>
            <a:r>
              <a:rPr lang="en-US" b="1">
                <a:latin typeface="Calibri" panose="020F0502020204030204" pitchFamily="34" charset="0"/>
                <a:ea typeface="Calibri" panose="020F0502020204030204" pitchFamily="34" charset="0"/>
                <a:cs typeface="Calibri" panose="020F0502020204030204" pitchFamily="34" charset="0"/>
              </a:rPr>
              <a:t>E-COMMERCE COMPANY’S </a:t>
            </a:r>
            <a:br>
              <a:rPr lang="en-US" b="1">
                <a:latin typeface="Calibri" panose="020F0502020204030204" pitchFamily="34" charset="0"/>
                <a:ea typeface="Calibri" panose="020F0502020204030204" pitchFamily="34" charset="0"/>
                <a:cs typeface="Calibri" panose="020F0502020204030204" pitchFamily="34" charset="0"/>
              </a:rPr>
            </a:br>
            <a:r>
              <a:rPr lang="en-US" b="1">
                <a:latin typeface="Calibri" panose="020F0502020204030204" pitchFamily="34" charset="0"/>
                <a:ea typeface="Calibri" panose="020F0502020204030204" pitchFamily="34" charset="0"/>
                <a:cs typeface="Calibri" panose="020F0502020204030204" pitchFamily="34" charset="0"/>
              </a:rPr>
              <a:t>PATH TO SUSTAINABLE GROWTH</a:t>
            </a:r>
          </a:p>
        </p:txBody>
      </p:sp>
      <p:sp>
        <p:nvSpPr>
          <p:cNvPr id="3" name="Content Placeholder 2">
            <a:extLst>
              <a:ext uri="{FF2B5EF4-FFF2-40B4-BE49-F238E27FC236}">
                <a16:creationId xmlns:a16="http://schemas.microsoft.com/office/drawing/2014/main" id="{C126601D-2F72-19B8-996B-C2C10DDB7A44}"/>
              </a:ext>
            </a:extLst>
          </p:cNvPr>
          <p:cNvSpPr>
            <a:spLocks noGrp="1"/>
          </p:cNvSpPr>
          <p:nvPr>
            <p:ph idx="1"/>
          </p:nvPr>
        </p:nvSpPr>
        <p:spPr>
          <a:xfrm>
            <a:off x="4749800" y="2441273"/>
            <a:ext cx="6732016" cy="3817942"/>
          </a:xfrm>
        </p:spPr>
        <p:txBody>
          <a:bodyPr anchor="t">
            <a:normAutofit/>
          </a:bodyPr>
          <a:lstStyle/>
          <a:p>
            <a:pPr marL="0" indent="0">
              <a:buNone/>
            </a:pPr>
            <a:r>
              <a:rPr lang="en-US" sz="2000" b="1" dirty="0">
                <a:latin typeface="Calibri" panose="020F0502020204030204" pitchFamily="34" charset="0"/>
                <a:ea typeface="Calibri" panose="020F0502020204030204" pitchFamily="34" charset="0"/>
                <a:cs typeface="Calibri" panose="020F0502020204030204" pitchFamily="34" charset="0"/>
              </a:rPr>
              <a:t>Company Overview</a:t>
            </a:r>
          </a:p>
          <a:p>
            <a:pPr marL="0" indent="0">
              <a:buNone/>
            </a:pPr>
            <a:r>
              <a:rPr lang="en-US" sz="2000" dirty="0">
                <a:latin typeface="Calibri" panose="020F0502020204030204" pitchFamily="34" charset="0"/>
                <a:ea typeface="Calibri" panose="020F0502020204030204" pitchFamily="34" charset="0"/>
                <a:cs typeface="Calibri" panose="020F0502020204030204" pitchFamily="34" charset="0"/>
              </a:rPr>
              <a:t>E-commerce and online retail encompass the virtual marketplace where businesses and consumers engage in the exchange of products and services over the internet. This mode of commerce removes the necessity of being physically present, granting consumers the ability to explore, compare, and purchase items from any location and at any time. By utilizing platforms such as websites, mobile applications, and social media, e-commerce creates a unified and accessible shopping experience, no matter the device being used.</a:t>
            </a:r>
          </a:p>
        </p:txBody>
      </p:sp>
      <p:pic>
        <p:nvPicPr>
          <p:cNvPr id="7" name="Picture 6" descr="A hand holding a bag and a credit card next to a computer">
            <a:extLst>
              <a:ext uri="{FF2B5EF4-FFF2-40B4-BE49-F238E27FC236}">
                <a16:creationId xmlns:a16="http://schemas.microsoft.com/office/drawing/2014/main" id="{D91ACEDC-E0E3-91D5-E9DC-8891EAFACA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300" y="2229344"/>
            <a:ext cx="4241800" cy="4241800"/>
          </a:xfrm>
          <a:prstGeom prst="rect">
            <a:avLst/>
          </a:prstGeom>
        </p:spPr>
      </p:pic>
      <p:pic>
        <p:nvPicPr>
          <p:cNvPr id="9" name="Picture 8">
            <a:extLst>
              <a:ext uri="{FF2B5EF4-FFF2-40B4-BE49-F238E27FC236}">
                <a16:creationId xmlns:a16="http://schemas.microsoft.com/office/drawing/2014/main" id="{2A7CCC3E-B116-D669-7954-CD702DAA40FD}"/>
              </a:ext>
            </a:extLst>
          </p:cNvPr>
          <p:cNvPicPr>
            <a:picLocks noChangeAspect="1"/>
          </p:cNvPicPr>
          <p:nvPr/>
        </p:nvPicPr>
        <p:blipFill>
          <a:blip r:embed="rId3"/>
          <a:stretch>
            <a:fillRect/>
          </a:stretch>
        </p:blipFill>
        <p:spPr>
          <a:xfrm>
            <a:off x="9512300" y="598785"/>
            <a:ext cx="1701825" cy="1842488"/>
          </a:xfrm>
          <a:prstGeom prst="rect">
            <a:avLst/>
          </a:prstGeom>
        </p:spPr>
      </p:pic>
    </p:spTree>
    <p:extLst>
      <p:ext uri="{BB962C8B-B14F-4D97-AF65-F5344CB8AC3E}">
        <p14:creationId xmlns:p14="http://schemas.microsoft.com/office/powerpoint/2010/main" val="3873861431"/>
      </p:ext>
    </p:extLst>
  </p:cSld>
  <p:clrMapOvr>
    <a:masterClrMapping/>
  </p:clrMapOvr>
  <mc:AlternateContent xmlns:mc="http://schemas.openxmlformats.org/markup-compatibility/2006">
    <mc:Choice xmlns:p14="http://schemas.microsoft.com/office/powerpoint/2010/main" Requires="p14">
      <p:transition spd="slow" p14:dur="2000" advTm="33240"/>
    </mc:Choice>
    <mc:Fallback>
      <p:transition spd="slow" advTm="3324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1879A0C0-5B74-8BCB-A496-FDD8FD178143}"/>
              </a:ext>
            </a:extLst>
          </p:cNvPr>
          <p:cNvSpPr>
            <a:spLocks noGrp="1"/>
          </p:cNvSpPr>
          <p:nvPr>
            <p:ph type="title"/>
          </p:nvPr>
        </p:nvSpPr>
        <p:spPr>
          <a:xfrm>
            <a:off x="612648" y="548640"/>
            <a:ext cx="4803224" cy="1298446"/>
          </a:xfrm>
        </p:spPr>
        <p:txBody>
          <a:bodyPr>
            <a:normAutofit/>
          </a:bodyPr>
          <a:lstStyle/>
          <a:p>
            <a:r>
              <a:rPr lang="en-US" sz="4100" dirty="0">
                <a:latin typeface="Calibri" panose="020F0502020204030204" pitchFamily="34" charset="0"/>
                <a:ea typeface="Calibri" panose="020F0502020204030204" pitchFamily="34" charset="0"/>
                <a:cs typeface="Calibri" panose="020F0502020204030204" pitchFamily="34" charset="0"/>
              </a:rPr>
              <a:t>PROBLEM STATEMENT</a:t>
            </a:r>
          </a:p>
        </p:txBody>
      </p:sp>
      <p:pic>
        <p:nvPicPr>
          <p:cNvPr id="5" name="Picture 4" descr="A red exclamation mark and a red exclamation mark&#10;&#10;AI-generated content may be incorrect.">
            <a:extLst>
              <a:ext uri="{FF2B5EF4-FFF2-40B4-BE49-F238E27FC236}">
                <a16:creationId xmlns:a16="http://schemas.microsoft.com/office/drawing/2014/main" id="{79A229C8-CD1A-E05D-A655-03AA7E8F8916}"/>
              </a:ext>
            </a:extLst>
          </p:cNvPr>
          <p:cNvPicPr>
            <a:picLocks noChangeAspect="1"/>
          </p:cNvPicPr>
          <p:nvPr/>
        </p:nvPicPr>
        <p:blipFill>
          <a:blip r:embed="rId3">
            <a:extLst>
              <a:ext uri="{28A0092B-C50C-407E-A947-70E740481C1C}">
                <a14:useLocalDpi xmlns:a14="http://schemas.microsoft.com/office/drawing/2010/main" val="0"/>
              </a:ext>
            </a:extLst>
          </a:blip>
          <a:srcRect l="46605" r="6527" b="2"/>
          <a:stretch>
            <a:fillRect/>
          </a:stretch>
        </p:blipFill>
        <p:spPr>
          <a:xfrm>
            <a:off x="731521" y="2011679"/>
            <a:ext cx="4684352" cy="4297680"/>
          </a:xfrm>
          <a:prstGeom prst="rect">
            <a:avLst/>
          </a:prstGeom>
        </p:spPr>
      </p:pic>
      <p:sp>
        <p:nvSpPr>
          <p:cNvPr id="3" name="Content Placeholder 2">
            <a:extLst>
              <a:ext uri="{FF2B5EF4-FFF2-40B4-BE49-F238E27FC236}">
                <a16:creationId xmlns:a16="http://schemas.microsoft.com/office/drawing/2014/main" id="{2601F04D-0226-5311-CDDD-97AD31CE75A5}"/>
              </a:ext>
            </a:extLst>
          </p:cNvPr>
          <p:cNvSpPr>
            <a:spLocks noGrp="1"/>
          </p:cNvSpPr>
          <p:nvPr>
            <p:ph idx="1"/>
          </p:nvPr>
        </p:nvSpPr>
        <p:spPr>
          <a:xfrm>
            <a:off x="6028520" y="548637"/>
            <a:ext cx="5546770" cy="5760723"/>
          </a:xfrm>
        </p:spPr>
        <p:txBody>
          <a:bodyPr>
            <a:normAutofit/>
          </a:bodyPr>
          <a:lstStyle/>
          <a:p>
            <a:pPr marL="0" indent="0">
              <a:buNone/>
            </a:pPr>
            <a:endParaRPr lang="en-US" sz="1800" dirty="0"/>
          </a:p>
          <a:p>
            <a:pPr marL="0" indent="0">
              <a:buNone/>
            </a:pPr>
            <a:r>
              <a:rPr lang="en-US" sz="1800" dirty="0"/>
              <a:t>The e-commerce company is currently facing several operational challenges that are having a ripple effect on both its growth trajectory and customer satisfaction levels. These issues are interrelated and stem from inefficiencies in core functions such as supply chain management, inventory control, order fulfillment, and customer service. </a:t>
            </a:r>
          </a:p>
          <a:p>
            <a:pPr marL="0" indent="0">
              <a:buNone/>
            </a:pPr>
            <a:r>
              <a:rPr lang="en-US" sz="1800" dirty="0"/>
              <a:t>One of the major problems lies within the supply chain. Delays from suppliers, coupled with unpredictable shipping conditions and logistical constraints, have resulted in inconsistent delivery timelines. This not only affects the company’s ability to fulfill orders promptly but also creates uncertainty for customers who expect reliable and timely service. As a result, customer trust begins to erode, which directly impacts retention and long-term brand loyalty.</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753702"/>
      </p:ext>
    </p:extLst>
  </p:cSld>
  <p:clrMapOvr>
    <a:masterClrMapping/>
  </p:clrMapOvr>
  <mc:AlternateContent xmlns:mc="http://schemas.openxmlformats.org/markup-compatibility/2006">
    <mc:Choice xmlns:p14="http://schemas.microsoft.com/office/powerpoint/2010/main" Requires="p14">
      <p:transition spd="slow" p14:dur="2000" advTm="46907"/>
    </mc:Choice>
    <mc:Fallback>
      <p:transition spd="slow" advTm="46907"/>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1B2B030-4738-4359-9E46-144B7C8BFF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 y="8300"/>
            <a:ext cx="12193117" cy="68497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2" name="Rectangle 11">
            <a:extLst>
              <a:ext uri="{FF2B5EF4-FFF2-40B4-BE49-F238E27FC236}">
                <a16:creationId xmlns:a16="http://schemas.microsoft.com/office/drawing/2014/main" id="{E722B2DD-E14D-4972-9D98-5D6E61B1B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14431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CBFDE76D-F7CD-C1AC-0B2D-94A4F610B822}"/>
              </a:ext>
            </a:extLst>
          </p:cNvPr>
          <p:cNvPicPr>
            <a:picLocks noGrp="1" noChangeAspect="1"/>
          </p:cNvPicPr>
          <p:nvPr>
            <p:ph idx="1"/>
          </p:nvPr>
        </p:nvPicPr>
        <p:blipFill>
          <a:blip r:embed="rId2"/>
          <a:srcRect t="1628"/>
          <a:stretch>
            <a:fillRect/>
          </a:stretch>
        </p:blipFill>
        <p:spPr>
          <a:xfrm>
            <a:off x="20" y="10"/>
            <a:ext cx="12191980" cy="6866290"/>
          </a:xfrm>
          <a:prstGeom prst="rect">
            <a:avLst/>
          </a:prstGeom>
        </p:spPr>
      </p:pic>
    </p:spTree>
    <p:extLst>
      <p:ext uri="{BB962C8B-B14F-4D97-AF65-F5344CB8AC3E}">
        <p14:creationId xmlns:p14="http://schemas.microsoft.com/office/powerpoint/2010/main" val="3693818107"/>
      </p:ext>
    </p:extLst>
  </p:cSld>
  <p:clrMapOvr>
    <a:masterClrMapping/>
  </p:clrMapOvr>
  <mc:AlternateContent xmlns:mc="http://schemas.openxmlformats.org/markup-compatibility/2006">
    <mc:Choice xmlns:p14="http://schemas.microsoft.com/office/powerpoint/2010/main" Requires="p14">
      <p:transition spd="slow" p14:dur="2000" advTm="68773"/>
    </mc:Choice>
    <mc:Fallback>
      <p:transition spd="slow" advTm="6877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043DF-8C96-A2CA-A183-502685E9C5D6}"/>
              </a:ext>
            </a:extLst>
          </p:cNvPr>
          <p:cNvSpPr>
            <a:spLocks noGrp="1"/>
          </p:cNvSpPr>
          <p:nvPr>
            <p:ph type="title"/>
          </p:nvPr>
        </p:nvSpPr>
        <p:spPr>
          <a:xfrm>
            <a:off x="579122" y="395948"/>
            <a:ext cx="1010192" cy="474204"/>
          </a:xfrm>
        </p:spPr>
        <p:txBody>
          <a:bodyPr anchor="t">
            <a:normAutofit fontScale="90000"/>
          </a:bodyPr>
          <a:lstStyle/>
          <a:p>
            <a:r>
              <a:rPr lang="en-US" sz="3200" dirty="0">
                <a:latin typeface="Calibri" panose="020F0502020204030204" pitchFamily="34" charset="0"/>
                <a:ea typeface="Calibri" panose="020F0502020204030204" pitchFamily="34" charset="0"/>
                <a:cs typeface="Calibri" panose="020F0502020204030204" pitchFamily="34" charset="0"/>
              </a:rPr>
              <a:t>KPI’s</a:t>
            </a:r>
          </a:p>
        </p:txBody>
      </p:sp>
      <p:pic>
        <p:nvPicPr>
          <p:cNvPr id="13" name="Picture 12">
            <a:extLst>
              <a:ext uri="{FF2B5EF4-FFF2-40B4-BE49-F238E27FC236}">
                <a16:creationId xmlns:a16="http://schemas.microsoft.com/office/drawing/2014/main" id="{06AD7545-52C9-12D5-B9B8-C3D496A175C3}"/>
              </a:ext>
            </a:extLst>
          </p:cNvPr>
          <p:cNvPicPr>
            <a:picLocks noChangeAspect="1"/>
          </p:cNvPicPr>
          <p:nvPr/>
        </p:nvPicPr>
        <p:blipFill>
          <a:blip r:embed="rId2"/>
          <a:stretch>
            <a:fillRect/>
          </a:stretch>
        </p:blipFill>
        <p:spPr>
          <a:xfrm>
            <a:off x="3763973" y="1785994"/>
            <a:ext cx="1108165" cy="915841"/>
          </a:xfrm>
          <a:prstGeom prst="rect">
            <a:avLst/>
          </a:prstGeom>
        </p:spPr>
      </p:pic>
      <p:pic>
        <p:nvPicPr>
          <p:cNvPr id="5" name="Picture 4">
            <a:extLst>
              <a:ext uri="{FF2B5EF4-FFF2-40B4-BE49-F238E27FC236}">
                <a16:creationId xmlns:a16="http://schemas.microsoft.com/office/drawing/2014/main" id="{7425A3B0-0CD2-3CA4-ED00-ACD7508E29FB}"/>
              </a:ext>
            </a:extLst>
          </p:cNvPr>
          <p:cNvPicPr>
            <a:picLocks noChangeAspect="1"/>
          </p:cNvPicPr>
          <p:nvPr/>
        </p:nvPicPr>
        <p:blipFill>
          <a:blip r:embed="rId3"/>
          <a:stretch>
            <a:fillRect/>
          </a:stretch>
        </p:blipFill>
        <p:spPr>
          <a:xfrm>
            <a:off x="3748427" y="744257"/>
            <a:ext cx="1139259" cy="915841"/>
          </a:xfrm>
          <a:prstGeom prst="rect">
            <a:avLst/>
          </a:prstGeom>
        </p:spPr>
      </p:pic>
      <p:pic>
        <p:nvPicPr>
          <p:cNvPr id="17" name="Picture 16">
            <a:extLst>
              <a:ext uri="{FF2B5EF4-FFF2-40B4-BE49-F238E27FC236}">
                <a16:creationId xmlns:a16="http://schemas.microsoft.com/office/drawing/2014/main" id="{4DA9E335-C3C1-A27A-D123-4C5C51F55E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32650" y="1753582"/>
            <a:ext cx="5500664" cy="743595"/>
          </a:xfrm>
          <a:prstGeom prst="rect">
            <a:avLst/>
          </a:prstGeom>
        </p:spPr>
      </p:pic>
      <p:pic>
        <p:nvPicPr>
          <p:cNvPr id="9" name="Picture 8">
            <a:extLst>
              <a:ext uri="{FF2B5EF4-FFF2-40B4-BE49-F238E27FC236}">
                <a16:creationId xmlns:a16="http://schemas.microsoft.com/office/drawing/2014/main" id="{B93A61B8-6981-3287-9062-85BBB781318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32650" y="843534"/>
            <a:ext cx="5500664" cy="743595"/>
          </a:xfrm>
          <a:prstGeom prst="rect">
            <a:avLst/>
          </a:prstGeom>
        </p:spPr>
      </p:pic>
      <p:sp>
        <p:nvSpPr>
          <p:cNvPr id="3" name="Content Placeholder 2">
            <a:extLst>
              <a:ext uri="{FF2B5EF4-FFF2-40B4-BE49-F238E27FC236}">
                <a16:creationId xmlns:a16="http://schemas.microsoft.com/office/drawing/2014/main" id="{83CCC41D-9FCA-E43F-45C1-C5D409389251}"/>
              </a:ext>
            </a:extLst>
          </p:cNvPr>
          <p:cNvSpPr>
            <a:spLocks noGrp="1"/>
          </p:cNvSpPr>
          <p:nvPr>
            <p:ph idx="1"/>
          </p:nvPr>
        </p:nvSpPr>
        <p:spPr>
          <a:xfrm>
            <a:off x="10178143" y="4667342"/>
            <a:ext cx="892628" cy="1314358"/>
          </a:xfrm>
        </p:spPr>
        <p:txBody>
          <a:bodyPr>
            <a:normAutofit/>
          </a:bodyPr>
          <a:lstStyle/>
          <a:p>
            <a:endParaRPr lang="en-US" sz="2000" dirty="0">
              <a:latin typeface="Calibri" panose="020F0502020204030204" pitchFamily="34" charset="0"/>
              <a:ea typeface="Calibri" panose="020F0502020204030204" pitchFamily="34" charset="0"/>
              <a:cs typeface="Calibri" panose="020F0502020204030204" pitchFamily="34" charset="0"/>
            </a:endParaRPr>
          </a:p>
          <a:p>
            <a:pPr marL="457200" lvl="1" indent="0">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457200" lvl="1" indent="0">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457200" lvl="1" indent="0">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457200" lvl="1" indent="0">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457200" lvl="1" indent="0">
              <a:buNone/>
            </a:pPr>
            <a:endParaRPr lang="en-US" sz="2000" dirty="0">
              <a:latin typeface="Calibri" panose="020F0502020204030204" pitchFamily="34" charset="0"/>
              <a:ea typeface="Calibri" panose="020F0502020204030204" pitchFamily="34" charset="0"/>
              <a:cs typeface="Calibri" panose="020F0502020204030204" pitchFamily="34" charset="0"/>
            </a:endParaRPr>
          </a:p>
        </p:txBody>
      </p:sp>
      <p:grpSp>
        <p:nvGrpSpPr>
          <p:cNvPr id="27" name="Group 26">
            <a:extLst>
              <a:ext uri="{FF2B5EF4-FFF2-40B4-BE49-F238E27FC236}">
                <a16:creationId xmlns:a16="http://schemas.microsoft.com/office/drawing/2014/main" id="{EAAE468F-ADE2-0027-BC23-F5DA0999543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 y="6737460"/>
            <a:ext cx="12192000" cy="123364"/>
            <a:chOff x="1" y="6737460"/>
            <a:chExt cx="12192000" cy="123364"/>
          </a:xfrm>
        </p:grpSpPr>
        <p:sp>
          <p:nvSpPr>
            <p:cNvPr id="28" name="Rectangle 27">
              <a:extLst>
                <a:ext uri="{FF2B5EF4-FFF2-40B4-BE49-F238E27FC236}">
                  <a16:creationId xmlns:a16="http://schemas.microsoft.com/office/drawing/2014/main" id="{9A19DD9D-426A-073F-5B44-33E29707D6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6034320" y="703141"/>
              <a:ext cx="123362" cy="12192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5060C67-2F83-148B-28F8-ED15EE438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40559" y="4909383"/>
              <a:ext cx="123362" cy="3779520"/>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Content Placeholder 2">
            <a:extLst>
              <a:ext uri="{FF2B5EF4-FFF2-40B4-BE49-F238E27FC236}">
                <a16:creationId xmlns:a16="http://schemas.microsoft.com/office/drawing/2014/main" id="{00154F8A-3FED-0946-3419-42AAFA725706}"/>
              </a:ext>
            </a:extLst>
          </p:cNvPr>
          <p:cNvSpPr txBox="1">
            <a:spLocks/>
          </p:cNvSpPr>
          <p:nvPr/>
        </p:nvSpPr>
        <p:spPr>
          <a:xfrm>
            <a:off x="261257" y="870153"/>
            <a:ext cx="4016829" cy="5333422"/>
          </a:xfrm>
          <a:prstGeom prst="rect">
            <a:avLst/>
          </a:prstGeom>
        </p:spPr>
        <p:txBody>
          <a:bodyPr vert="horz" lIns="91440" tIns="45720" rIns="91440" bIns="45720" rtlCol="0" anchor="ct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AVERAGE ORDER VALUE</a:t>
            </a:r>
          </a:p>
          <a:p>
            <a:pPr marL="457200" lvl="1" indent="0">
              <a:buNone/>
            </a:pPr>
            <a:r>
              <a:rPr lang="en-US" sz="2000" dirty="0">
                <a:latin typeface="Calibri" panose="020F0502020204030204" pitchFamily="34" charset="0"/>
                <a:ea typeface="Calibri" panose="020F0502020204030204" pitchFamily="34" charset="0"/>
                <a:cs typeface="Calibri" panose="020F0502020204030204" pitchFamily="34" charset="0"/>
              </a:rPr>
              <a:t>Average Order Value : </a:t>
            </a:r>
            <a:r>
              <a:rPr lang="en-US" sz="2000" dirty="0"/>
              <a:t>₹ 557 </a:t>
            </a:r>
            <a:endParaRPr lang="en-US" sz="2000" dirty="0">
              <a:latin typeface="Calibri" panose="020F0502020204030204" pitchFamily="34" charset="0"/>
              <a:ea typeface="Calibri" panose="020F0502020204030204" pitchFamily="34" charset="0"/>
              <a:cs typeface="Calibri" panose="020F0502020204030204" pitchFamily="34" charset="0"/>
            </a:endParaRPr>
          </a:p>
          <a:p>
            <a:pPr marL="457200" lvl="1" indent="0">
              <a:buNone/>
            </a:pPr>
            <a:r>
              <a:rPr lang="en-US" sz="2000" dirty="0">
                <a:latin typeface="Calibri" panose="020F0502020204030204" pitchFamily="34" charset="0"/>
                <a:ea typeface="Calibri" panose="020F0502020204030204" pitchFamily="34" charset="0"/>
                <a:cs typeface="Calibri" panose="020F0502020204030204" pitchFamily="34" charset="0"/>
              </a:rPr>
              <a:t>DAX FORMULA :</a:t>
            </a:r>
          </a:p>
          <a:p>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TOTAL QUANTITY</a:t>
            </a:r>
          </a:p>
          <a:p>
            <a:pPr marL="457200" lvl="1" indent="0">
              <a:buNone/>
            </a:pPr>
            <a:r>
              <a:rPr lang="en-US" sz="2000" dirty="0">
                <a:latin typeface="Calibri" panose="020F0502020204030204" pitchFamily="34" charset="0"/>
                <a:ea typeface="Calibri" panose="020F0502020204030204" pitchFamily="34" charset="0"/>
                <a:cs typeface="Calibri" panose="020F0502020204030204" pitchFamily="34" charset="0"/>
              </a:rPr>
              <a:t>Total Quantity :  117K</a:t>
            </a:r>
          </a:p>
          <a:p>
            <a:pPr marL="457200" lvl="1" indent="0">
              <a:buNone/>
            </a:pPr>
            <a:r>
              <a:rPr lang="en-US" sz="2000" dirty="0">
                <a:latin typeface="Calibri" panose="020F0502020204030204" pitchFamily="34" charset="0"/>
                <a:ea typeface="Calibri" panose="020F0502020204030204" pitchFamily="34" charset="0"/>
                <a:cs typeface="Calibri" panose="020F0502020204030204" pitchFamily="34" charset="0"/>
              </a:rPr>
              <a:t>DAX FORMULA :</a:t>
            </a:r>
          </a:p>
          <a:p>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TOTAL ORDER’s</a:t>
            </a:r>
          </a:p>
          <a:p>
            <a:pPr marL="457200" lvl="1" indent="0">
              <a:buNone/>
            </a:pPr>
            <a:r>
              <a:rPr lang="en-US" sz="2000" dirty="0">
                <a:latin typeface="Calibri" panose="020F0502020204030204" pitchFamily="34" charset="0"/>
                <a:ea typeface="Calibri" panose="020F0502020204030204" pitchFamily="34" charset="0"/>
                <a:cs typeface="Calibri" panose="020F0502020204030204" pitchFamily="34" charset="0"/>
              </a:rPr>
              <a:t>Total Order : 129K</a:t>
            </a:r>
          </a:p>
          <a:p>
            <a:pPr marL="457200" lvl="1" indent="0">
              <a:buNone/>
            </a:pPr>
            <a:r>
              <a:rPr lang="en-US" sz="2000" dirty="0">
                <a:latin typeface="Calibri" panose="020F0502020204030204" pitchFamily="34" charset="0"/>
                <a:ea typeface="Calibri" panose="020F0502020204030204" pitchFamily="34" charset="0"/>
                <a:cs typeface="Calibri" panose="020F0502020204030204" pitchFamily="34" charset="0"/>
              </a:rPr>
              <a:t>DAX FORMULA:</a:t>
            </a:r>
          </a:p>
          <a:p>
            <a:pPr marL="0" indent="0">
              <a:buNone/>
            </a:pPr>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TOTAL SALES REVENUE</a:t>
            </a:r>
          </a:p>
          <a:p>
            <a:pPr marL="457200" lvl="1" indent="0">
              <a:buNone/>
            </a:pPr>
            <a:r>
              <a:rPr lang="en-US" sz="2000" dirty="0">
                <a:latin typeface="Calibri" panose="020F0502020204030204" pitchFamily="34" charset="0"/>
                <a:ea typeface="Calibri" panose="020F0502020204030204" pitchFamily="34" charset="0"/>
                <a:cs typeface="Calibri" panose="020F0502020204030204" pitchFamily="34" charset="0"/>
              </a:rPr>
              <a:t>Total Revenue : </a:t>
            </a:r>
            <a:r>
              <a:rPr lang="en-US" sz="2000" dirty="0"/>
              <a:t>₹71.8M </a:t>
            </a:r>
          </a:p>
          <a:p>
            <a:pPr marL="457200" lvl="1" indent="0">
              <a:buNone/>
            </a:pPr>
            <a:r>
              <a:rPr lang="en-US" sz="2000" dirty="0">
                <a:latin typeface="Calibri" panose="020F0502020204030204" pitchFamily="34" charset="0"/>
                <a:ea typeface="Calibri" panose="020F0502020204030204" pitchFamily="34" charset="0"/>
                <a:cs typeface="Calibri" panose="020F0502020204030204" pitchFamily="34" charset="0"/>
              </a:rPr>
              <a:t>DAX FORMULA :</a:t>
            </a:r>
          </a:p>
          <a:p>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TOTAL CANCELLED ORDER</a:t>
            </a:r>
          </a:p>
          <a:p>
            <a:pPr marL="457200" lvl="1" indent="0">
              <a:buFont typeface="Arial" panose="020B0604020202020204" pitchFamily="34" charset="0"/>
              <a:buNone/>
            </a:pPr>
            <a:r>
              <a:rPr lang="en-US" sz="2000" dirty="0">
                <a:latin typeface="Calibri" panose="020F0502020204030204" pitchFamily="34" charset="0"/>
                <a:ea typeface="Calibri" panose="020F0502020204030204" pitchFamily="34" charset="0"/>
                <a:cs typeface="Calibri" panose="020F0502020204030204" pitchFamily="34" charset="0"/>
              </a:rPr>
              <a:t>Total Cancelled Order’s : 20K</a:t>
            </a:r>
          </a:p>
          <a:p>
            <a:pPr marL="457200" lvl="1" indent="0">
              <a:buFont typeface="Arial" panose="020B0604020202020204" pitchFamily="34" charset="0"/>
              <a:buNone/>
            </a:pPr>
            <a:r>
              <a:rPr lang="en-US" sz="2000" dirty="0">
                <a:latin typeface="Calibri" panose="020F0502020204030204" pitchFamily="34" charset="0"/>
                <a:ea typeface="Calibri" panose="020F0502020204030204" pitchFamily="34" charset="0"/>
                <a:cs typeface="Calibri" panose="020F0502020204030204" pitchFamily="34" charset="0"/>
              </a:rPr>
              <a:t>DAX FORMULA :</a:t>
            </a:r>
          </a:p>
          <a:p>
            <a:pPr marL="457200" lvl="1" indent="0">
              <a:buFont typeface="Arial" panose="020B0604020202020204" pitchFamily="34" charset="0"/>
              <a:buNone/>
            </a:pPr>
            <a:r>
              <a:rPr lang="en-US" sz="2000" dirty="0">
                <a:latin typeface="Calibri" panose="020F0502020204030204" pitchFamily="34" charset="0"/>
                <a:ea typeface="Calibri" panose="020F0502020204030204" pitchFamily="34" charset="0"/>
                <a:cs typeface="Calibri" panose="020F0502020204030204" pitchFamily="34" charset="0"/>
              </a:rPr>
              <a:t> </a:t>
            </a:r>
          </a:p>
          <a:p>
            <a:endParaRPr lang="en-US" sz="2000" dirty="0">
              <a:latin typeface="Calibri" panose="020F0502020204030204" pitchFamily="34" charset="0"/>
              <a:ea typeface="Calibri" panose="020F0502020204030204" pitchFamily="34" charset="0"/>
              <a:cs typeface="Calibri" panose="020F0502020204030204" pitchFamily="34" charset="0"/>
            </a:endParaRPr>
          </a:p>
          <a:p>
            <a:endParaRPr lang="en-US" sz="2000" dirty="0">
              <a:latin typeface="Calibri" panose="020F0502020204030204" pitchFamily="34" charset="0"/>
              <a:ea typeface="Calibri" panose="020F0502020204030204" pitchFamily="34" charset="0"/>
              <a:cs typeface="Calibri" panose="020F0502020204030204" pitchFamily="34" charset="0"/>
            </a:endParaRPr>
          </a:p>
        </p:txBody>
      </p:sp>
      <p:pic>
        <p:nvPicPr>
          <p:cNvPr id="19" name="Picture 18">
            <a:extLst>
              <a:ext uri="{FF2B5EF4-FFF2-40B4-BE49-F238E27FC236}">
                <a16:creationId xmlns:a16="http://schemas.microsoft.com/office/drawing/2014/main" id="{20092346-AF0E-AC24-FD82-11214EDD45FF}"/>
              </a:ext>
            </a:extLst>
          </p:cNvPr>
          <p:cNvPicPr>
            <a:picLocks noChangeAspect="1"/>
          </p:cNvPicPr>
          <p:nvPr/>
        </p:nvPicPr>
        <p:blipFill>
          <a:blip r:embed="rId6"/>
          <a:stretch>
            <a:fillRect/>
          </a:stretch>
        </p:blipFill>
        <p:spPr>
          <a:xfrm>
            <a:off x="3763973" y="2821195"/>
            <a:ext cx="1108165" cy="915841"/>
          </a:xfrm>
          <a:prstGeom prst="rect">
            <a:avLst/>
          </a:prstGeom>
        </p:spPr>
      </p:pic>
      <p:pic>
        <p:nvPicPr>
          <p:cNvPr id="21" name="Picture 20">
            <a:extLst>
              <a:ext uri="{FF2B5EF4-FFF2-40B4-BE49-F238E27FC236}">
                <a16:creationId xmlns:a16="http://schemas.microsoft.com/office/drawing/2014/main" id="{A5E88A66-C53A-EF39-D37A-9A0023B2131B}"/>
              </a:ext>
            </a:extLst>
          </p:cNvPr>
          <p:cNvPicPr>
            <a:picLocks noChangeAspect="1"/>
          </p:cNvPicPr>
          <p:nvPr/>
        </p:nvPicPr>
        <p:blipFill>
          <a:blip r:embed="rId7"/>
          <a:stretch>
            <a:fillRect/>
          </a:stretch>
        </p:blipFill>
        <p:spPr>
          <a:xfrm>
            <a:off x="3763973" y="3856396"/>
            <a:ext cx="1139260" cy="915842"/>
          </a:xfrm>
          <a:prstGeom prst="rect">
            <a:avLst/>
          </a:prstGeom>
        </p:spPr>
      </p:pic>
      <p:pic>
        <p:nvPicPr>
          <p:cNvPr id="23" name="Picture 22">
            <a:extLst>
              <a:ext uri="{FF2B5EF4-FFF2-40B4-BE49-F238E27FC236}">
                <a16:creationId xmlns:a16="http://schemas.microsoft.com/office/drawing/2014/main" id="{EF4B8176-FF50-72DC-90D7-0F556FD355FA}"/>
              </a:ext>
            </a:extLst>
          </p:cNvPr>
          <p:cNvPicPr>
            <a:picLocks noChangeAspect="1"/>
          </p:cNvPicPr>
          <p:nvPr/>
        </p:nvPicPr>
        <p:blipFill>
          <a:blip r:embed="rId8"/>
          <a:stretch>
            <a:fillRect/>
          </a:stretch>
        </p:blipFill>
        <p:spPr>
          <a:xfrm>
            <a:off x="3748427" y="4914910"/>
            <a:ext cx="1204574" cy="813225"/>
          </a:xfrm>
          <a:prstGeom prst="rect">
            <a:avLst/>
          </a:prstGeom>
        </p:spPr>
      </p:pic>
      <p:pic>
        <p:nvPicPr>
          <p:cNvPr id="24" name="Picture 23">
            <a:extLst>
              <a:ext uri="{FF2B5EF4-FFF2-40B4-BE49-F238E27FC236}">
                <a16:creationId xmlns:a16="http://schemas.microsoft.com/office/drawing/2014/main" id="{C7EE05CD-81F2-976B-22CF-068E8255F8B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232650" y="2782602"/>
            <a:ext cx="5576864" cy="723900"/>
          </a:xfrm>
          <a:prstGeom prst="rect">
            <a:avLst/>
          </a:prstGeom>
        </p:spPr>
      </p:pic>
      <p:pic>
        <p:nvPicPr>
          <p:cNvPr id="25" name="Picture 24">
            <a:extLst>
              <a:ext uri="{FF2B5EF4-FFF2-40B4-BE49-F238E27FC236}">
                <a16:creationId xmlns:a16="http://schemas.microsoft.com/office/drawing/2014/main" id="{06F9FC1C-F87E-4788-5893-E45B74AC9BD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332592" y="4011966"/>
            <a:ext cx="5476922" cy="604702"/>
          </a:xfrm>
          <a:prstGeom prst="rect">
            <a:avLst/>
          </a:prstGeom>
        </p:spPr>
      </p:pic>
      <p:pic>
        <p:nvPicPr>
          <p:cNvPr id="26" name="Picture 25" descr="A screenshot of a computer code">
            <a:extLst>
              <a:ext uri="{FF2B5EF4-FFF2-40B4-BE49-F238E27FC236}">
                <a16:creationId xmlns:a16="http://schemas.microsoft.com/office/drawing/2014/main" id="{CF7F2A20-844F-A941-1369-1B35AF51B23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332592" y="4883611"/>
            <a:ext cx="5520466" cy="1484764"/>
          </a:xfrm>
          <a:prstGeom prst="rect">
            <a:avLst/>
          </a:prstGeom>
        </p:spPr>
      </p:pic>
      <p:sp>
        <p:nvSpPr>
          <p:cNvPr id="33" name="TextBox 32">
            <a:extLst>
              <a:ext uri="{FF2B5EF4-FFF2-40B4-BE49-F238E27FC236}">
                <a16:creationId xmlns:a16="http://schemas.microsoft.com/office/drawing/2014/main" id="{77EF95BD-DCAE-CD7A-9E46-86F2C8A31B4C}"/>
              </a:ext>
            </a:extLst>
          </p:cNvPr>
          <p:cNvSpPr txBox="1"/>
          <p:nvPr/>
        </p:nvSpPr>
        <p:spPr>
          <a:xfrm>
            <a:off x="5232649" y="304925"/>
            <a:ext cx="6008915" cy="538609"/>
          </a:xfrm>
          <a:prstGeom prst="rect">
            <a:avLst/>
          </a:prstGeom>
          <a:noFill/>
        </p:spPr>
        <p:txBody>
          <a:bodyPr wrap="square">
            <a:spAutoFit/>
          </a:bodyPr>
          <a:lstStyle/>
          <a:p>
            <a:r>
              <a:rPr lang="en-US" sz="2900" dirty="0">
                <a:latin typeface="Calibri" panose="020F0502020204030204" pitchFamily="34" charset="0"/>
                <a:ea typeface="Calibri" panose="020F0502020204030204" pitchFamily="34" charset="0"/>
                <a:cs typeface="Calibri" panose="020F0502020204030204" pitchFamily="34" charset="0"/>
              </a:rPr>
              <a:t>DAX FORMULAS :</a:t>
            </a:r>
            <a:endParaRPr lang="en-US" sz="2900" dirty="0"/>
          </a:p>
        </p:txBody>
      </p:sp>
    </p:spTree>
    <p:extLst>
      <p:ext uri="{BB962C8B-B14F-4D97-AF65-F5344CB8AC3E}">
        <p14:creationId xmlns:p14="http://schemas.microsoft.com/office/powerpoint/2010/main" val="1447875360"/>
      </p:ext>
    </p:extLst>
  </p:cSld>
  <p:clrMapOvr>
    <a:masterClrMapping/>
  </p:clrMapOvr>
  <mc:AlternateContent xmlns:mc="http://schemas.openxmlformats.org/markup-compatibility/2006">
    <mc:Choice xmlns:p14="http://schemas.microsoft.com/office/powerpoint/2010/main" Requires="p14">
      <p:transition spd="slow" p14:dur="2000" advTm="95104"/>
    </mc:Choice>
    <mc:Fallback>
      <p:transition spd="slow" advTm="95104"/>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Slide Background">
            <a:extLst>
              <a:ext uri="{FF2B5EF4-FFF2-40B4-BE49-F238E27FC236}">
                <a16:creationId xmlns:a16="http://schemas.microsoft.com/office/drawing/2014/main" id="{FE1EC756-41E9-4FD6-AD48-EF46A2813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9" name="Rectangle 28">
            <a:extLst>
              <a:ext uri="{FF2B5EF4-FFF2-40B4-BE49-F238E27FC236}">
                <a16:creationId xmlns:a16="http://schemas.microsoft.com/office/drawing/2014/main" id="{E66F6371-9EA5-9354-29DC-1D07B921F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E7C39E-36F6-F34E-626E-73C47F7DBB40}"/>
              </a:ext>
            </a:extLst>
          </p:cNvPr>
          <p:cNvSpPr>
            <a:spLocks noGrp="1"/>
          </p:cNvSpPr>
          <p:nvPr>
            <p:ph type="title"/>
          </p:nvPr>
        </p:nvSpPr>
        <p:spPr>
          <a:xfrm>
            <a:off x="761995" y="307447"/>
            <a:ext cx="10693884" cy="1109932"/>
          </a:xfrm>
        </p:spPr>
        <p:txBody>
          <a:bodyPr>
            <a:normAutofit/>
          </a:bodyPr>
          <a:lstStyle/>
          <a:p>
            <a:r>
              <a:rPr lang="en-US" sz="4000">
                <a:latin typeface="Calibri" panose="020F0502020204030204" pitchFamily="34" charset="0"/>
                <a:ea typeface="Calibri" panose="020F0502020204030204" pitchFamily="34" charset="0"/>
                <a:cs typeface="Calibri" panose="020F0502020204030204" pitchFamily="34" charset="0"/>
              </a:rPr>
              <a:t>FULFILMENT AMAZON V/S MERCHANT</a:t>
            </a:r>
          </a:p>
        </p:txBody>
      </p:sp>
      <p:pic>
        <p:nvPicPr>
          <p:cNvPr id="6" name="Picture 5">
            <a:extLst>
              <a:ext uri="{FF2B5EF4-FFF2-40B4-BE49-F238E27FC236}">
                <a16:creationId xmlns:a16="http://schemas.microsoft.com/office/drawing/2014/main" id="{EA6839BA-0C83-F79C-8337-8C2624EFC2AF}"/>
              </a:ext>
            </a:extLst>
          </p:cNvPr>
          <p:cNvPicPr>
            <a:picLocks noChangeAspect="1"/>
          </p:cNvPicPr>
          <p:nvPr/>
        </p:nvPicPr>
        <p:blipFill>
          <a:blip r:embed="rId3"/>
          <a:stretch>
            <a:fillRect/>
          </a:stretch>
        </p:blipFill>
        <p:spPr>
          <a:xfrm>
            <a:off x="736122" y="2395415"/>
            <a:ext cx="5804955" cy="3700440"/>
          </a:xfrm>
          <a:prstGeom prst="rect">
            <a:avLst/>
          </a:prstGeom>
        </p:spPr>
      </p:pic>
      <p:sp>
        <p:nvSpPr>
          <p:cNvPr id="3" name="Content Placeholder 2">
            <a:extLst>
              <a:ext uri="{FF2B5EF4-FFF2-40B4-BE49-F238E27FC236}">
                <a16:creationId xmlns:a16="http://schemas.microsoft.com/office/drawing/2014/main" id="{A54614E0-FC9D-46D3-2E74-E77A077CA8A1}"/>
              </a:ext>
            </a:extLst>
          </p:cNvPr>
          <p:cNvSpPr>
            <a:spLocks noGrp="1"/>
          </p:cNvSpPr>
          <p:nvPr>
            <p:ph idx="1"/>
          </p:nvPr>
        </p:nvSpPr>
        <p:spPr>
          <a:xfrm>
            <a:off x="6760028" y="2357888"/>
            <a:ext cx="5192485" cy="3902635"/>
          </a:xfrm>
        </p:spPr>
        <p:txBody>
          <a:bodyPr anchor="ctr">
            <a:normAutofit/>
          </a:bodyPr>
          <a:lstStyle/>
          <a:p>
            <a:pPr marL="0" indent="0">
              <a:buNone/>
            </a:pPr>
            <a:r>
              <a:rPr lang="en-US" sz="2000" b="1" dirty="0"/>
              <a:t>Fulfilment Strategy: Amazon vs. Merchant </a:t>
            </a:r>
          </a:p>
          <a:p>
            <a:pPr lvl="1"/>
            <a:r>
              <a:rPr lang="en-US" sz="2000" b="1" dirty="0"/>
              <a:t>Amazon Fulfilment Dominates</a:t>
            </a:r>
            <a:r>
              <a:rPr lang="en-US" sz="2000" dirty="0"/>
              <a:t>: 69.55% (89.68K units) </a:t>
            </a:r>
          </a:p>
          <a:p>
            <a:pPr lvl="1"/>
            <a:r>
              <a:rPr lang="en-US" sz="2000" b="1" dirty="0"/>
              <a:t>Merchant Fulfilment Significant</a:t>
            </a:r>
            <a:r>
              <a:rPr lang="en-US" sz="2000" dirty="0"/>
              <a:t>: 30.45% (39.27K units) </a:t>
            </a:r>
          </a:p>
          <a:p>
            <a:pPr lvl="1"/>
            <a:r>
              <a:rPr lang="en-US" sz="2000" b="1" dirty="0"/>
              <a:t>Key Takeaway</a:t>
            </a:r>
            <a:r>
              <a:rPr lang="en-US" sz="2000" dirty="0"/>
              <a:t>: Primary reliance on Amazon's logistics, complemented by substantial merchant-managed operations.</a:t>
            </a:r>
          </a:p>
        </p:txBody>
      </p:sp>
    </p:spTree>
    <p:extLst>
      <p:ext uri="{BB962C8B-B14F-4D97-AF65-F5344CB8AC3E}">
        <p14:creationId xmlns:p14="http://schemas.microsoft.com/office/powerpoint/2010/main" val="3223768395"/>
      </p:ext>
    </p:extLst>
  </p:cSld>
  <p:clrMapOvr>
    <a:masterClrMapping/>
  </p:clrMapOvr>
  <mc:AlternateContent xmlns:mc="http://schemas.openxmlformats.org/markup-compatibility/2006">
    <mc:Choice xmlns:p14="http://schemas.microsoft.com/office/powerpoint/2010/main" Requires="p14">
      <p:transition spd="slow" p14:dur="2000" advTm="31871"/>
    </mc:Choice>
    <mc:Fallback>
      <p:transition spd="slow" advTm="31871"/>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E014A9-EA25-E34C-B75C-CB12B55F75EC}"/>
              </a:ext>
            </a:extLst>
          </p:cNvPr>
          <p:cNvSpPr>
            <a:spLocks noGrp="1"/>
          </p:cNvSpPr>
          <p:nvPr>
            <p:ph type="title"/>
          </p:nvPr>
        </p:nvSpPr>
        <p:spPr>
          <a:xfrm>
            <a:off x="612648" y="1114923"/>
            <a:ext cx="4928181" cy="888048"/>
          </a:xfrm>
        </p:spPr>
        <p:txBody>
          <a:bodyPr anchor="b">
            <a:normAutofit/>
          </a:bodyPr>
          <a:lstStyle/>
          <a:p>
            <a:r>
              <a:rPr lang="en-US" dirty="0">
                <a:latin typeface="Calibri" panose="020F0502020204030204" pitchFamily="34" charset="0"/>
                <a:ea typeface="Calibri" panose="020F0502020204030204" pitchFamily="34" charset="0"/>
                <a:cs typeface="Calibri" panose="020F0502020204030204" pitchFamily="34" charset="0"/>
              </a:rPr>
              <a:t>SALES BY CATEGORY</a:t>
            </a:r>
          </a:p>
        </p:txBody>
      </p:sp>
      <p:sp>
        <p:nvSpPr>
          <p:cNvPr id="3" name="Content Placeholder 2">
            <a:extLst>
              <a:ext uri="{FF2B5EF4-FFF2-40B4-BE49-F238E27FC236}">
                <a16:creationId xmlns:a16="http://schemas.microsoft.com/office/drawing/2014/main" id="{CFB11B1A-EA88-D203-DDE6-222A04B7FDB5}"/>
              </a:ext>
            </a:extLst>
          </p:cNvPr>
          <p:cNvSpPr>
            <a:spLocks noGrp="1"/>
          </p:cNvSpPr>
          <p:nvPr>
            <p:ph idx="1"/>
          </p:nvPr>
        </p:nvSpPr>
        <p:spPr>
          <a:xfrm>
            <a:off x="612648" y="2584058"/>
            <a:ext cx="4621553" cy="3159018"/>
          </a:xfrm>
        </p:spPr>
        <p:txBody>
          <a:bodyPr>
            <a:normAutofit lnSpcReduction="10000"/>
          </a:bodyPr>
          <a:lstStyle/>
          <a:p>
            <a:pPr marL="0" indent="0">
              <a:buNone/>
            </a:pPr>
            <a:r>
              <a:rPr lang="en-US" sz="1400" b="1" dirty="0"/>
              <a:t>Sales by Category: Key Revenue Drivers </a:t>
            </a:r>
          </a:p>
          <a:p>
            <a:pPr lvl="1"/>
            <a:r>
              <a:rPr lang="en-US" sz="1400" b="1" dirty="0"/>
              <a:t>"Set" Dominates Sales</a:t>
            </a:r>
            <a:r>
              <a:rPr lang="en-US" sz="1400" dirty="0"/>
              <a:t>: Contributes nearly half (49.0%) of total sales, making it the primary revenue generator. </a:t>
            </a:r>
          </a:p>
          <a:p>
            <a:pPr lvl="1"/>
            <a:r>
              <a:rPr lang="en-US" sz="1400" b="1" dirty="0"/>
              <a:t>"Kurta" a Strong Second</a:t>
            </a:r>
            <a:r>
              <a:rPr lang="en-US" sz="1400" dirty="0"/>
              <a:t>: Accounts for 27.13% of sales, solidifying its position as a major category. </a:t>
            </a:r>
          </a:p>
          <a:p>
            <a:pPr lvl="1"/>
            <a:r>
              <a:rPr lang="en-US" sz="1400" b="1" dirty="0"/>
              <a:t>Combined Strength</a:t>
            </a:r>
            <a:r>
              <a:rPr lang="en-US" sz="1400" dirty="0"/>
              <a:t>: "Set" and "Kurta" together drive over 76% of all sales. Western Wear: A distant third, with other categories having minimal contribution. </a:t>
            </a:r>
          </a:p>
          <a:p>
            <a:pPr lvl="1"/>
            <a:r>
              <a:rPr lang="en-US" sz="1400" b="1" dirty="0"/>
              <a:t>Actionable Insight</a:t>
            </a:r>
            <a:r>
              <a:rPr lang="en-US" sz="1400" dirty="0"/>
              <a:t>: Focus strategy on maximizing "Set" and "Kurta" categories, while evaluating performance and potential for growth in other segments.</a:t>
            </a:r>
          </a:p>
          <a:p>
            <a:pPr lvl="1"/>
            <a:endParaRPr lang="en-US" sz="1400" dirty="0"/>
          </a:p>
        </p:txBody>
      </p:sp>
      <p:pic>
        <p:nvPicPr>
          <p:cNvPr id="5" name="Picture 4">
            <a:extLst>
              <a:ext uri="{FF2B5EF4-FFF2-40B4-BE49-F238E27FC236}">
                <a16:creationId xmlns:a16="http://schemas.microsoft.com/office/drawing/2014/main" id="{B3940927-C912-C1F7-6271-C09E59EC941A}"/>
              </a:ext>
            </a:extLst>
          </p:cNvPr>
          <p:cNvPicPr>
            <a:picLocks noChangeAspect="1"/>
          </p:cNvPicPr>
          <p:nvPr/>
        </p:nvPicPr>
        <p:blipFill>
          <a:blip r:embed="rId2"/>
          <a:stretch>
            <a:fillRect/>
          </a:stretch>
        </p:blipFill>
        <p:spPr>
          <a:xfrm>
            <a:off x="5691261" y="1523137"/>
            <a:ext cx="5837780" cy="3811725"/>
          </a:xfrm>
          <a:prstGeom prst="rect">
            <a:avLst/>
          </a:prstGeom>
        </p:spPr>
      </p:pic>
    </p:spTree>
    <p:extLst>
      <p:ext uri="{BB962C8B-B14F-4D97-AF65-F5344CB8AC3E}">
        <p14:creationId xmlns:p14="http://schemas.microsoft.com/office/powerpoint/2010/main" val="1197785488"/>
      </p:ext>
    </p:extLst>
  </p:cSld>
  <p:clrMapOvr>
    <a:masterClrMapping/>
  </p:clrMapOvr>
  <mc:AlternateContent xmlns:mc="http://schemas.openxmlformats.org/markup-compatibility/2006">
    <mc:Choice xmlns:p14="http://schemas.microsoft.com/office/powerpoint/2010/main" Requires="p14">
      <p:transition spd="slow" p14:dur="2000" advTm="41922"/>
    </mc:Choice>
    <mc:Fallback>
      <p:transition spd="slow" advTm="41922"/>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C36424-B82D-72D5-9C51-D055B8A69F78}"/>
              </a:ext>
            </a:extLst>
          </p:cNvPr>
          <p:cNvSpPr>
            <a:spLocks noGrp="1"/>
          </p:cNvSpPr>
          <p:nvPr>
            <p:ph type="title"/>
          </p:nvPr>
        </p:nvSpPr>
        <p:spPr>
          <a:xfrm>
            <a:off x="5906802" y="603504"/>
            <a:ext cx="5577902" cy="1527048"/>
          </a:xfrm>
        </p:spPr>
        <p:txBody>
          <a:bodyPr anchor="b">
            <a:normAutofit/>
          </a:bodyPr>
          <a:lstStyle/>
          <a:p>
            <a:r>
              <a:rPr lang="en-US" dirty="0">
                <a:latin typeface="Calibri" panose="020F0502020204030204" pitchFamily="34" charset="0"/>
                <a:ea typeface="Calibri" panose="020F0502020204030204" pitchFamily="34" charset="0"/>
                <a:cs typeface="Calibri" panose="020F0502020204030204" pitchFamily="34" charset="0"/>
              </a:rPr>
              <a:t>CANCELLED ORDER BY STATES</a:t>
            </a:r>
          </a:p>
        </p:txBody>
      </p:sp>
      <p:pic>
        <p:nvPicPr>
          <p:cNvPr id="5" name="Picture 4">
            <a:extLst>
              <a:ext uri="{FF2B5EF4-FFF2-40B4-BE49-F238E27FC236}">
                <a16:creationId xmlns:a16="http://schemas.microsoft.com/office/drawing/2014/main" id="{DEACDFFF-6D4B-7976-F602-F39DEE050C76}"/>
              </a:ext>
            </a:extLst>
          </p:cNvPr>
          <p:cNvPicPr>
            <a:picLocks noChangeAspect="1"/>
          </p:cNvPicPr>
          <p:nvPr/>
        </p:nvPicPr>
        <p:blipFill>
          <a:blip r:embed="rId2"/>
          <a:stretch>
            <a:fillRect/>
          </a:stretch>
        </p:blipFill>
        <p:spPr>
          <a:xfrm>
            <a:off x="612648" y="1649984"/>
            <a:ext cx="4681506" cy="3586417"/>
          </a:xfrm>
          <a:prstGeom prst="rect">
            <a:avLst/>
          </a:prstGeom>
        </p:spPr>
      </p:pic>
      <p:sp>
        <p:nvSpPr>
          <p:cNvPr id="3" name="Content Placeholder 2">
            <a:extLst>
              <a:ext uri="{FF2B5EF4-FFF2-40B4-BE49-F238E27FC236}">
                <a16:creationId xmlns:a16="http://schemas.microsoft.com/office/drawing/2014/main" id="{1C1447D5-EA22-FD28-C8F2-35457648A92F}"/>
              </a:ext>
            </a:extLst>
          </p:cNvPr>
          <p:cNvSpPr>
            <a:spLocks noGrp="1"/>
          </p:cNvSpPr>
          <p:nvPr>
            <p:ph idx="1"/>
          </p:nvPr>
        </p:nvSpPr>
        <p:spPr>
          <a:xfrm>
            <a:off x="5906802" y="2212848"/>
            <a:ext cx="5577902" cy="4096512"/>
          </a:xfrm>
        </p:spPr>
        <p:txBody>
          <a:bodyPr>
            <a:normAutofit/>
          </a:bodyPr>
          <a:lstStyle/>
          <a:p>
            <a:pPr marL="0" indent="0">
              <a:buNone/>
            </a:pPr>
            <a:r>
              <a:rPr lang="en-US" sz="1800" b="1" dirty="0"/>
              <a:t>Cancelled Orders by State: Key Areas for Improvement</a:t>
            </a:r>
          </a:p>
          <a:p>
            <a:pPr lvl="1"/>
            <a:r>
              <a:rPr lang="en-US" sz="1800" b="1" dirty="0"/>
              <a:t>Maharashtra Leads in Cancellations: </a:t>
            </a:r>
            <a:r>
              <a:rPr lang="en-US" sz="1800" dirty="0"/>
              <a:t>Records the highest volume of cancelled orders. </a:t>
            </a:r>
          </a:p>
          <a:p>
            <a:pPr lvl="1"/>
            <a:r>
              <a:rPr lang="en-US" sz="1800" b="1" dirty="0"/>
              <a:t>Karnataka Second Highest: </a:t>
            </a:r>
            <a:r>
              <a:rPr lang="en-US" sz="1800" dirty="0"/>
              <a:t>Follows closely, indicating significant cancellation issues. </a:t>
            </a:r>
          </a:p>
          <a:p>
            <a:pPr lvl="1"/>
            <a:r>
              <a:rPr lang="en-US" sz="1800" b="1" dirty="0"/>
              <a:t>Uttar Pradesh, Telangana, Tamil Nadu: </a:t>
            </a:r>
            <a:r>
              <a:rPr lang="en-US" sz="1800" dirty="0"/>
              <a:t>Show moderate to high cancellation rates. </a:t>
            </a:r>
          </a:p>
          <a:p>
            <a:pPr lvl="1"/>
            <a:r>
              <a:rPr lang="en-US" sz="1800" b="1" dirty="0"/>
              <a:t>Actionable Insight: </a:t>
            </a:r>
            <a:r>
              <a:rPr lang="en-US" sz="1800" dirty="0"/>
              <a:t>Focus immediate investigation on Maharashtra and Karnataka to identify and address underlying causes of high cancellations (e.g., logistics, stock issues, customer service).</a:t>
            </a:r>
          </a:p>
          <a:p>
            <a:pPr lvl="1"/>
            <a:endParaRPr lang="en-US" sz="1800" dirty="0"/>
          </a:p>
        </p:txBody>
      </p:sp>
    </p:spTree>
    <p:extLst>
      <p:ext uri="{BB962C8B-B14F-4D97-AF65-F5344CB8AC3E}">
        <p14:creationId xmlns:p14="http://schemas.microsoft.com/office/powerpoint/2010/main" val="2190227372"/>
      </p:ext>
    </p:extLst>
  </p:cSld>
  <p:clrMapOvr>
    <a:masterClrMapping/>
  </p:clrMapOvr>
  <mc:AlternateContent xmlns:mc="http://schemas.openxmlformats.org/markup-compatibility/2006">
    <mc:Choice xmlns:p14="http://schemas.microsoft.com/office/powerpoint/2010/main" Requires="p14">
      <p:transition spd="slow" p14:dur="2000" advTm="40393"/>
    </mc:Choice>
    <mc:Fallback>
      <p:transition spd="slow" advTm="4039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CCA7E2-842A-E487-6988-DC1D96A35C1E}"/>
              </a:ext>
            </a:extLst>
          </p:cNvPr>
          <p:cNvSpPr>
            <a:spLocks noGrp="1"/>
          </p:cNvSpPr>
          <p:nvPr>
            <p:ph type="title"/>
          </p:nvPr>
        </p:nvSpPr>
        <p:spPr>
          <a:xfrm>
            <a:off x="612648" y="1114923"/>
            <a:ext cx="4621553" cy="866277"/>
          </a:xfrm>
        </p:spPr>
        <p:txBody>
          <a:bodyPr anchor="b">
            <a:normAutofit/>
          </a:bodyPr>
          <a:lstStyle/>
          <a:p>
            <a:r>
              <a:rPr lang="en-US" dirty="0">
                <a:latin typeface="Calibri" panose="020F0502020204030204" pitchFamily="34" charset="0"/>
                <a:ea typeface="Calibri" panose="020F0502020204030204" pitchFamily="34" charset="0"/>
                <a:cs typeface="Calibri" panose="020F0502020204030204" pitchFamily="34" charset="0"/>
              </a:rPr>
              <a:t>TOP CITIES BY SALE</a:t>
            </a:r>
          </a:p>
        </p:txBody>
      </p:sp>
      <p:sp>
        <p:nvSpPr>
          <p:cNvPr id="3" name="Content Placeholder 2">
            <a:extLst>
              <a:ext uri="{FF2B5EF4-FFF2-40B4-BE49-F238E27FC236}">
                <a16:creationId xmlns:a16="http://schemas.microsoft.com/office/drawing/2014/main" id="{4E741D70-B3DD-CE87-6F19-D1D5CF1958EA}"/>
              </a:ext>
            </a:extLst>
          </p:cNvPr>
          <p:cNvSpPr>
            <a:spLocks noGrp="1"/>
          </p:cNvSpPr>
          <p:nvPr>
            <p:ph idx="1"/>
          </p:nvPr>
        </p:nvSpPr>
        <p:spPr>
          <a:xfrm>
            <a:off x="612648" y="2584058"/>
            <a:ext cx="4621553" cy="3159018"/>
          </a:xfrm>
        </p:spPr>
        <p:txBody>
          <a:bodyPr>
            <a:normAutofit/>
          </a:bodyPr>
          <a:lstStyle/>
          <a:p>
            <a:pPr marL="0" indent="0">
              <a:buNone/>
            </a:pPr>
            <a:r>
              <a:rPr lang="en-US" sz="1500" b="1" dirty="0"/>
              <a:t>Top City by Sales Performance </a:t>
            </a:r>
          </a:p>
          <a:p>
            <a:pPr lvl="1"/>
            <a:r>
              <a:rPr lang="en-US" sz="1500" b="1" dirty="0"/>
              <a:t>Bengaluru Leads Significantly: </a:t>
            </a:r>
            <a:r>
              <a:rPr lang="en-US" sz="1500" dirty="0"/>
              <a:t>Highest sales volume, well above all other cities. </a:t>
            </a:r>
          </a:p>
          <a:p>
            <a:pPr lvl="1"/>
            <a:r>
              <a:rPr lang="en-US" sz="1500" b="1" dirty="0"/>
              <a:t>Hyderabad a Strong Contributor: </a:t>
            </a:r>
            <a:r>
              <a:rPr lang="en-US" sz="1500" dirty="0"/>
              <a:t>Second in sales, showing strong performance. </a:t>
            </a:r>
          </a:p>
          <a:p>
            <a:pPr lvl="1"/>
            <a:r>
              <a:rPr lang="en-US" sz="1500" b="1" dirty="0"/>
              <a:t>Key Urban Markets: </a:t>
            </a:r>
            <a:r>
              <a:rPr lang="en-US" sz="1500" dirty="0"/>
              <a:t>Mumbai, New Delhi, and Chennai follow, indicating sales concentration in major metropolitan areas.</a:t>
            </a:r>
          </a:p>
          <a:p>
            <a:pPr lvl="1"/>
            <a:r>
              <a:rPr lang="en-US" sz="1500" b="1" dirty="0"/>
              <a:t>Actionable Insight: </a:t>
            </a:r>
            <a:r>
              <a:rPr lang="en-US" sz="1500" dirty="0"/>
              <a:t>Focus marketing/sales efforts on Bengaluru and Hyderabad, while maintaining presence in other top cities.</a:t>
            </a:r>
          </a:p>
          <a:p>
            <a:pPr lvl="1"/>
            <a:endParaRPr lang="en-US" sz="15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6EDF4032-455D-0091-31E8-72023B5AC31A}"/>
              </a:ext>
            </a:extLst>
          </p:cNvPr>
          <p:cNvPicPr>
            <a:picLocks noChangeAspect="1"/>
          </p:cNvPicPr>
          <p:nvPr/>
        </p:nvPicPr>
        <p:blipFill>
          <a:blip r:embed="rId2"/>
          <a:stretch>
            <a:fillRect/>
          </a:stretch>
        </p:blipFill>
        <p:spPr>
          <a:xfrm>
            <a:off x="5691261" y="1418381"/>
            <a:ext cx="5837780" cy="4021237"/>
          </a:xfrm>
          <a:prstGeom prst="rect">
            <a:avLst/>
          </a:prstGeom>
        </p:spPr>
      </p:pic>
    </p:spTree>
    <p:extLst>
      <p:ext uri="{BB962C8B-B14F-4D97-AF65-F5344CB8AC3E}">
        <p14:creationId xmlns:p14="http://schemas.microsoft.com/office/powerpoint/2010/main" val="952541117"/>
      </p:ext>
    </p:extLst>
  </p:cSld>
  <p:clrMapOvr>
    <a:masterClrMapping/>
  </p:clrMapOvr>
  <mc:AlternateContent xmlns:mc="http://schemas.openxmlformats.org/markup-compatibility/2006">
    <mc:Choice xmlns:p14="http://schemas.microsoft.com/office/powerpoint/2010/main" Requires="p14">
      <p:transition spd="slow" p14:dur="2000" advTm="36336"/>
    </mc:Choice>
    <mc:Fallback>
      <p:transition spd="slow" advTm="36336"/>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D867C6C-C426-3E30-5446-52685E13AF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ED6C90-1D04-9A4E-7E36-338BBBE5977A}"/>
              </a:ext>
            </a:extLst>
          </p:cNvPr>
          <p:cNvSpPr>
            <a:spLocks noGrp="1"/>
          </p:cNvSpPr>
          <p:nvPr>
            <p:ph type="title"/>
          </p:nvPr>
        </p:nvSpPr>
        <p:spPr>
          <a:xfrm>
            <a:off x="576943" y="1538242"/>
            <a:ext cx="4561114" cy="769529"/>
          </a:xfrm>
        </p:spPr>
        <p:txBody>
          <a:bodyPr anchor="t">
            <a:normAutofit fontScale="90000"/>
          </a:bodyPr>
          <a:lstStyle/>
          <a:p>
            <a:pPr algn="r"/>
            <a:r>
              <a:rPr lang="en-US" dirty="0">
                <a:latin typeface="Calibri" panose="020F0502020204030204" pitchFamily="34" charset="0"/>
                <a:ea typeface="Calibri" panose="020F0502020204030204" pitchFamily="34" charset="0"/>
                <a:cs typeface="Calibri" panose="020F0502020204030204" pitchFamily="34" charset="0"/>
              </a:rPr>
              <a:t>REVENUE BY MONTH</a:t>
            </a:r>
          </a:p>
        </p:txBody>
      </p:sp>
      <p:pic>
        <p:nvPicPr>
          <p:cNvPr id="5" name="Picture 4">
            <a:extLst>
              <a:ext uri="{FF2B5EF4-FFF2-40B4-BE49-F238E27FC236}">
                <a16:creationId xmlns:a16="http://schemas.microsoft.com/office/drawing/2014/main" id="{F7D88AC4-C7DE-06D9-F67E-2CB6AC56D7CA}"/>
              </a:ext>
            </a:extLst>
          </p:cNvPr>
          <p:cNvPicPr>
            <a:picLocks noChangeAspect="1"/>
          </p:cNvPicPr>
          <p:nvPr/>
        </p:nvPicPr>
        <p:blipFill>
          <a:blip r:embed="rId2"/>
          <a:stretch>
            <a:fillRect/>
          </a:stretch>
        </p:blipFill>
        <p:spPr>
          <a:xfrm>
            <a:off x="753532" y="2959100"/>
            <a:ext cx="4909432" cy="2598435"/>
          </a:xfrm>
          <a:prstGeom prst="rect">
            <a:avLst/>
          </a:prstGeom>
        </p:spPr>
      </p:pic>
      <p:sp>
        <p:nvSpPr>
          <p:cNvPr id="3" name="Content Placeholder 2">
            <a:extLst>
              <a:ext uri="{FF2B5EF4-FFF2-40B4-BE49-F238E27FC236}">
                <a16:creationId xmlns:a16="http://schemas.microsoft.com/office/drawing/2014/main" id="{2A03302F-7D75-A2A0-A586-7D2B7434F661}"/>
              </a:ext>
            </a:extLst>
          </p:cNvPr>
          <p:cNvSpPr>
            <a:spLocks noGrp="1"/>
          </p:cNvSpPr>
          <p:nvPr>
            <p:ph idx="1"/>
          </p:nvPr>
        </p:nvSpPr>
        <p:spPr>
          <a:xfrm>
            <a:off x="6096000" y="1513360"/>
            <a:ext cx="5342467" cy="4306236"/>
          </a:xfrm>
        </p:spPr>
        <p:txBody>
          <a:bodyPr>
            <a:normAutofit/>
          </a:bodyPr>
          <a:lstStyle/>
          <a:p>
            <a:pPr marL="0" indent="0">
              <a:buNone/>
            </a:pPr>
            <a:r>
              <a:rPr lang="en-US" sz="1800" b="1" dirty="0">
                <a:latin typeface="Calibri" panose="020F0502020204030204" pitchFamily="34" charset="0"/>
                <a:ea typeface="Calibri" panose="020F0502020204030204" pitchFamily="34" charset="0"/>
                <a:cs typeface="Calibri" panose="020F0502020204030204" pitchFamily="34" charset="0"/>
              </a:rPr>
              <a:t>Month" chart: </a:t>
            </a:r>
          </a:p>
          <a:p>
            <a:pPr marL="0" indent="0">
              <a:buNone/>
            </a:pPr>
            <a:r>
              <a:rPr lang="en-US" sz="1800" b="1" dirty="0">
                <a:latin typeface="Calibri" panose="020F0502020204030204" pitchFamily="34" charset="0"/>
                <a:ea typeface="Calibri" panose="020F0502020204030204" pitchFamily="34" charset="0"/>
                <a:cs typeface="Calibri" panose="020F0502020204030204" pitchFamily="34" charset="0"/>
              </a:rPr>
              <a:t>Revenue by Month: Performance Trends</a:t>
            </a:r>
          </a:p>
          <a:p>
            <a:pPr lvl="1"/>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b="1" dirty="0">
                <a:latin typeface="Calibri" panose="020F0502020204030204" pitchFamily="34" charset="0"/>
                <a:ea typeface="Calibri" panose="020F0502020204030204" pitchFamily="34" charset="0"/>
                <a:cs typeface="Calibri" panose="020F0502020204030204" pitchFamily="34" charset="0"/>
              </a:rPr>
              <a:t>Significant April Peak</a:t>
            </a:r>
            <a:r>
              <a:rPr lang="en-US" sz="1800" dirty="0">
                <a:latin typeface="Calibri" panose="020F0502020204030204" pitchFamily="34" charset="0"/>
                <a:ea typeface="Calibri" panose="020F0502020204030204" pitchFamily="34" charset="0"/>
                <a:cs typeface="Calibri" panose="020F0502020204030204" pitchFamily="34" charset="0"/>
              </a:rPr>
              <a:t>: Revenue surged to its highest point in April, demonstrating strong performance (exceeding ₹25M).</a:t>
            </a:r>
          </a:p>
          <a:p>
            <a:pPr lvl="1"/>
            <a:r>
              <a:rPr lang="en-US" sz="1800" b="1" dirty="0">
                <a:latin typeface="Calibri" panose="020F0502020204030204" pitchFamily="34" charset="0"/>
                <a:ea typeface="Calibri" panose="020F0502020204030204" pitchFamily="34" charset="0"/>
                <a:cs typeface="Calibri" panose="020F0502020204030204" pitchFamily="34" charset="0"/>
              </a:rPr>
              <a:t>Subsequent Decline</a:t>
            </a:r>
            <a:r>
              <a:rPr lang="en-US" sz="1800" dirty="0">
                <a:latin typeface="Calibri" panose="020F0502020204030204" pitchFamily="34" charset="0"/>
                <a:ea typeface="Calibri" panose="020F0502020204030204" pitchFamily="34" charset="0"/>
                <a:cs typeface="Calibri" panose="020F0502020204030204" pitchFamily="34" charset="0"/>
              </a:rPr>
              <a:t>: A clear downward trend observed from May into June, with current revenue in June notably lower than the April peak but still above ₹20M. </a:t>
            </a:r>
          </a:p>
          <a:p>
            <a:pPr lvl="1"/>
            <a:r>
              <a:rPr lang="en-US" sz="1800" b="1" dirty="0">
                <a:latin typeface="Calibri" panose="020F0502020204030204" pitchFamily="34" charset="0"/>
                <a:ea typeface="Calibri" panose="020F0502020204030204" pitchFamily="34" charset="0"/>
                <a:cs typeface="Calibri" panose="020F0502020204030204" pitchFamily="34" charset="0"/>
              </a:rPr>
              <a:t>Key Insight</a:t>
            </a:r>
            <a:r>
              <a:rPr lang="en-US" sz="1800" dirty="0">
                <a:latin typeface="Calibri" panose="020F0502020204030204" pitchFamily="34" charset="0"/>
                <a:ea typeface="Calibri" panose="020F0502020204030204" pitchFamily="34" charset="0"/>
                <a:cs typeface="Calibri" panose="020F0502020204030204" pitchFamily="34" charset="0"/>
              </a:rPr>
              <a:t>: This pattern indicates a potential seasonal high in April or a short-term boost. The post-April decline necessitates investigation into market conditions, sales strategies, or external factors to reverse the trend.</a:t>
            </a:r>
          </a:p>
          <a:p>
            <a:pPr lvl="1"/>
            <a:endParaRPr lang="en-US" sz="1800" dirty="0"/>
          </a:p>
        </p:txBody>
      </p:sp>
    </p:spTree>
    <p:extLst>
      <p:ext uri="{BB962C8B-B14F-4D97-AF65-F5344CB8AC3E}">
        <p14:creationId xmlns:p14="http://schemas.microsoft.com/office/powerpoint/2010/main" val="2196074596"/>
      </p:ext>
    </p:extLst>
  </p:cSld>
  <p:clrMapOvr>
    <a:masterClrMapping/>
  </p:clrMapOvr>
  <mc:AlternateContent xmlns:mc="http://schemas.openxmlformats.org/markup-compatibility/2006">
    <mc:Choice xmlns:p14="http://schemas.microsoft.com/office/powerpoint/2010/main" Requires="p14">
      <p:transition spd="slow" p14:dur="2000" advTm="35909"/>
    </mc:Choice>
    <mc:Fallback>
      <p:transition spd="slow" advTm="35909"/>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809212-EE4B-74E2-C667-6E8EADDB7BF2}"/>
              </a:ext>
            </a:extLst>
          </p:cNvPr>
          <p:cNvSpPr>
            <a:spLocks noGrp="1"/>
          </p:cNvSpPr>
          <p:nvPr>
            <p:ph type="title"/>
          </p:nvPr>
        </p:nvSpPr>
        <p:spPr>
          <a:xfrm>
            <a:off x="612648" y="603504"/>
            <a:ext cx="5862396" cy="1060704"/>
          </a:xfrm>
        </p:spPr>
        <p:txBody>
          <a:bodyPr anchor="b">
            <a:normAutofit/>
          </a:bodyPr>
          <a:lstStyle/>
          <a:p>
            <a:r>
              <a:rPr lang="en-US" dirty="0">
                <a:latin typeface="Calibri" panose="020F0502020204030204" pitchFamily="34" charset="0"/>
                <a:ea typeface="Calibri" panose="020F0502020204030204" pitchFamily="34" charset="0"/>
                <a:cs typeface="Calibri" panose="020F0502020204030204" pitchFamily="34" charset="0"/>
              </a:rPr>
              <a:t>SALES BY WEEKDAY</a:t>
            </a:r>
          </a:p>
        </p:txBody>
      </p:sp>
      <p:sp>
        <p:nvSpPr>
          <p:cNvPr id="3" name="Content Placeholder 2">
            <a:extLst>
              <a:ext uri="{FF2B5EF4-FFF2-40B4-BE49-F238E27FC236}">
                <a16:creationId xmlns:a16="http://schemas.microsoft.com/office/drawing/2014/main" id="{6AFCEF89-F2DB-5AF8-56C2-58DE61E0DEC8}"/>
              </a:ext>
            </a:extLst>
          </p:cNvPr>
          <p:cNvSpPr>
            <a:spLocks noGrp="1"/>
          </p:cNvSpPr>
          <p:nvPr>
            <p:ph idx="1"/>
          </p:nvPr>
        </p:nvSpPr>
        <p:spPr>
          <a:xfrm>
            <a:off x="612648" y="2212848"/>
            <a:ext cx="5862396" cy="4096512"/>
          </a:xfrm>
        </p:spPr>
        <p:txBody>
          <a:bodyPr>
            <a:normAutofit/>
          </a:bodyPr>
          <a:lstStyle/>
          <a:p>
            <a:pPr marL="0" indent="0">
              <a:buNone/>
            </a:pPr>
            <a:r>
              <a:rPr lang="en-US" sz="1800" b="1" dirty="0">
                <a:latin typeface="Calibri" panose="020F0502020204030204" pitchFamily="34" charset="0"/>
                <a:ea typeface="Calibri" panose="020F0502020204030204" pitchFamily="34" charset="0"/>
                <a:cs typeface="Calibri" panose="020F0502020204030204" pitchFamily="34" charset="0"/>
              </a:rPr>
              <a:t>Sales by Weekday: Performance Patterns </a:t>
            </a:r>
          </a:p>
          <a:p>
            <a:pPr lvl="1"/>
            <a:r>
              <a:rPr lang="en-US" sz="1800" b="1" dirty="0">
                <a:latin typeface="Calibri" panose="020F0502020204030204" pitchFamily="34" charset="0"/>
                <a:ea typeface="Calibri" panose="020F0502020204030204" pitchFamily="34" charset="0"/>
                <a:cs typeface="Calibri" panose="020F0502020204030204" pitchFamily="34" charset="0"/>
              </a:rPr>
              <a:t>Strong Weekend Performance</a:t>
            </a:r>
            <a:r>
              <a:rPr lang="en-US" sz="1800" dirty="0">
                <a:latin typeface="Calibri" panose="020F0502020204030204" pitchFamily="34" charset="0"/>
                <a:ea typeface="Calibri" panose="020F0502020204030204" pitchFamily="34" charset="0"/>
                <a:cs typeface="Calibri" panose="020F0502020204030204" pitchFamily="34" charset="0"/>
              </a:rPr>
              <a:t>: Sunday is the highest sales day (19.6K), with Saturday also strong (15.5K). </a:t>
            </a:r>
          </a:p>
          <a:p>
            <a:pPr lvl="1"/>
            <a:r>
              <a:rPr lang="en-US" sz="1800" b="1" dirty="0">
                <a:latin typeface="Calibri" panose="020F0502020204030204" pitchFamily="34" charset="0"/>
                <a:ea typeface="Calibri" panose="020F0502020204030204" pitchFamily="34" charset="0"/>
                <a:cs typeface="Calibri" panose="020F0502020204030204" pitchFamily="34" charset="0"/>
              </a:rPr>
              <a:t>Consistent Early Week Sales</a:t>
            </a:r>
            <a:r>
              <a:rPr lang="en-US" sz="1800" dirty="0">
                <a:latin typeface="Calibri" panose="020F0502020204030204" pitchFamily="34" charset="0"/>
                <a:ea typeface="Calibri" panose="020F0502020204030204" pitchFamily="34" charset="0"/>
                <a:cs typeface="Calibri" panose="020F0502020204030204" pitchFamily="34" charset="0"/>
              </a:rPr>
              <a:t>: Monday, Tuesday, and Wednesday maintain solid sales above 18K. </a:t>
            </a:r>
          </a:p>
          <a:p>
            <a:pPr lvl="1"/>
            <a:r>
              <a:rPr lang="en-US" sz="1800" b="1" dirty="0">
                <a:latin typeface="Calibri" panose="020F0502020204030204" pitchFamily="34" charset="0"/>
                <a:ea typeface="Calibri" panose="020F0502020204030204" pitchFamily="34" charset="0"/>
                <a:cs typeface="Calibri" panose="020F0502020204030204" pitchFamily="34" charset="0"/>
              </a:rPr>
              <a:t>Mid-Week Dip</a:t>
            </a:r>
            <a:r>
              <a:rPr lang="en-US" sz="1800" dirty="0">
                <a:latin typeface="Calibri" panose="020F0502020204030204" pitchFamily="34" charset="0"/>
                <a:ea typeface="Calibri" panose="020F0502020204030204" pitchFamily="34" charset="0"/>
                <a:cs typeface="Calibri" panose="020F0502020204030204" pitchFamily="34" charset="0"/>
              </a:rPr>
              <a:t>: Thursday records the lowest sales at 17K, indicating a dip in activity. </a:t>
            </a:r>
          </a:p>
          <a:p>
            <a:pPr lvl="1"/>
            <a:r>
              <a:rPr lang="en-US" sz="1800" b="1" dirty="0">
                <a:latin typeface="Calibri" panose="020F0502020204030204" pitchFamily="34" charset="0"/>
                <a:ea typeface="Calibri" panose="020F0502020204030204" pitchFamily="34" charset="0"/>
                <a:cs typeface="Calibri" panose="020F0502020204030204" pitchFamily="34" charset="0"/>
              </a:rPr>
              <a:t>Actionable Insight</a:t>
            </a:r>
            <a:r>
              <a:rPr lang="en-US" sz="1800" dirty="0">
                <a:latin typeface="Calibri" panose="020F0502020204030204" pitchFamily="34" charset="0"/>
                <a:ea typeface="Calibri" panose="020F0502020204030204" pitchFamily="34" charset="0"/>
                <a:cs typeface="Calibri" panose="020F0502020204030204" pitchFamily="34" charset="0"/>
              </a:rPr>
              <a:t>: Optimize staffing and marketing efforts for peak weekend demand. Consider promotions or targeted campaigns to boost sales on Thursdays.</a:t>
            </a:r>
          </a:p>
          <a:p>
            <a:pPr lvl="1"/>
            <a:endParaRPr lang="en-US" sz="1800"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descr="A graph showing a line">
            <a:extLst>
              <a:ext uri="{FF2B5EF4-FFF2-40B4-BE49-F238E27FC236}">
                <a16:creationId xmlns:a16="http://schemas.microsoft.com/office/drawing/2014/main" id="{8AD610B0-026C-3211-5152-B13D97FAD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64086" y="1937657"/>
            <a:ext cx="5208815" cy="3494313"/>
          </a:xfrm>
          <a:prstGeom prst="rect">
            <a:avLst/>
          </a:prstGeom>
        </p:spPr>
      </p:pic>
    </p:spTree>
    <p:extLst>
      <p:ext uri="{BB962C8B-B14F-4D97-AF65-F5344CB8AC3E}">
        <p14:creationId xmlns:p14="http://schemas.microsoft.com/office/powerpoint/2010/main" val="961001988"/>
      </p:ext>
    </p:extLst>
  </p:cSld>
  <p:clrMapOvr>
    <a:masterClrMapping/>
  </p:clrMapOvr>
  <mc:AlternateContent xmlns:mc="http://schemas.openxmlformats.org/markup-compatibility/2006">
    <mc:Choice xmlns:p14="http://schemas.microsoft.com/office/powerpoint/2010/main" Requires="p14">
      <p:transition spd="slow" p14:dur="2000" advTm="52983"/>
    </mc:Choice>
    <mc:Fallback>
      <p:transition spd="slow" advTm="5298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3867147-1C83-BF71-39B0-B590EE7F34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AA683B-5404-173F-0977-574CEB5E91B5}"/>
              </a:ext>
            </a:extLst>
          </p:cNvPr>
          <p:cNvSpPr>
            <a:spLocks noGrp="1"/>
          </p:cNvSpPr>
          <p:nvPr>
            <p:ph type="title"/>
          </p:nvPr>
        </p:nvSpPr>
        <p:spPr>
          <a:xfrm>
            <a:off x="614678" y="548640"/>
            <a:ext cx="10872216" cy="1133856"/>
          </a:xfrm>
        </p:spPr>
        <p:txBody>
          <a:bodyPr anchor="t">
            <a:normAutofit/>
          </a:bodyPr>
          <a:lstStyle/>
          <a:p>
            <a:r>
              <a:rPr lang="en-US" sz="3700">
                <a:latin typeface="Calibri" panose="020F0502020204030204" pitchFamily="34" charset="0"/>
                <a:ea typeface="Calibri" panose="020F0502020204030204" pitchFamily="34" charset="0"/>
                <a:cs typeface="Calibri" panose="020F0502020204030204" pitchFamily="34" charset="0"/>
              </a:rPr>
              <a:t>E-COMMERCE PERFORMANCE - STRENGTHS &amp; DRIVERS</a:t>
            </a:r>
          </a:p>
        </p:txBody>
      </p:sp>
      <p:pic>
        <p:nvPicPr>
          <p:cNvPr id="5" name="Picture 4" descr="A hand holding a graph&#10;&#10;AI-generated content may be incorrect.">
            <a:extLst>
              <a:ext uri="{FF2B5EF4-FFF2-40B4-BE49-F238E27FC236}">
                <a16:creationId xmlns:a16="http://schemas.microsoft.com/office/drawing/2014/main" id="{8C5B071B-474D-FFC2-02EE-2391A0B387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520" y="1792222"/>
            <a:ext cx="5948680" cy="3770377"/>
          </a:xfrm>
          <a:prstGeom prst="rect">
            <a:avLst/>
          </a:prstGeom>
        </p:spPr>
      </p:pic>
      <p:sp>
        <p:nvSpPr>
          <p:cNvPr id="3" name="Content Placeholder 2">
            <a:extLst>
              <a:ext uri="{FF2B5EF4-FFF2-40B4-BE49-F238E27FC236}">
                <a16:creationId xmlns:a16="http://schemas.microsoft.com/office/drawing/2014/main" id="{22B6FA45-4099-554E-4338-21D292FF3041}"/>
              </a:ext>
            </a:extLst>
          </p:cNvPr>
          <p:cNvSpPr>
            <a:spLocks noGrp="1"/>
          </p:cNvSpPr>
          <p:nvPr>
            <p:ph idx="1"/>
          </p:nvPr>
        </p:nvSpPr>
        <p:spPr>
          <a:xfrm>
            <a:off x="7177176" y="1792224"/>
            <a:ext cx="4307527" cy="4517136"/>
          </a:xfrm>
        </p:spPr>
        <p:txBody>
          <a:bodyPr anchor="t">
            <a:normAutofit/>
          </a:bodyPr>
          <a:lstStyle/>
          <a:p>
            <a:pPr marL="0" indent="0">
              <a:buNone/>
            </a:pPr>
            <a:r>
              <a:rPr lang="en-US" sz="1800" b="1">
                <a:latin typeface="Calibri" panose="020F0502020204030204" pitchFamily="34" charset="0"/>
                <a:ea typeface="Calibri" panose="020F0502020204030204" pitchFamily="34" charset="0"/>
                <a:cs typeface="Calibri" panose="020F0502020204030204" pitchFamily="34" charset="0"/>
              </a:rPr>
              <a:t>Solid Revenue &amp; Dominant Channels</a:t>
            </a:r>
          </a:p>
          <a:p>
            <a:pPr lvl="1"/>
            <a:r>
              <a:rPr lang="en-US" sz="1800" b="1">
                <a:latin typeface="Calibri" panose="020F0502020204030204" pitchFamily="34" charset="0"/>
                <a:ea typeface="Calibri" panose="020F0502020204030204" pitchFamily="34" charset="0"/>
                <a:cs typeface="Calibri" panose="020F0502020204030204" pitchFamily="34" charset="0"/>
              </a:rPr>
              <a:t>Overall Performance: </a:t>
            </a:r>
            <a:r>
              <a:rPr lang="en-US" sz="1800">
                <a:latin typeface="Calibri" panose="020F0502020204030204" pitchFamily="34" charset="0"/>
                <a:ea typeface="Calibri" panose="020F0502020204030204" pitchFamily="34" charset="0"/>
                <a:cs typeface="Calibri" panose="020F0502020204030204" pitchFamily="34" charset="0"/>
              </a:rPr>
              <a:t>₹71.8M Revenue, 129K Orders, Healthy ₹557 AOV. </a:t>
            </a:r>
          </a:p>
          <a:p>
            <a:pPr lvl="1"/>
            <a:r>
              <a:rPr lang="en-US" sz="1800" b="1">
                <a:latin typeface="Calibri" panose="020F0502020204030204" pitchFamily="34" charset="0"/>
                <a:ea typeface="Calibri" panose="020F0502020204030204" pitchFamily="34" charset="0"/>
                <a:cs typeface="Calibri" panose="020F0502020204030204" pitchFamily="34" charset="0"/>
              </a:rPr>
              <a:t>Fulfilment Power: </a:t>
            </a:r>
            <a:r>
              <a:rPr lang="en-US" sz="1800">
                <a:latin typeface="Calibri" panose="020F0502020204030204" pitchFamily="34" charset="0"/>
                <a:ea typeface="Calibri" panose="020F0502020204030204" pitchFamily="34" charset="0"/>
                <a:cs typeface="Calibri" panose="020F0502020204030204" pitchFamily="34" charset="0"/>
              </a:rPr>
              <a:t>Amazon handles 69.54% of fulfilment. </a:t>
            </a:r>
          </a:p>
          <a:p>
            <a:pPr lvl="1"/>
            <a:r>
              <a:rPr lang="en-US" sz="1800" b="1">
                <a:latin typeface="Calibri" panose="020F0502020204030204" pitchFamily="34" charset="0"/>
                <a:ea typeface="Calibri" panose="020F0502020204030204" pitchFamily="34" charset="0"/>
                <a:cs typeface="Calibri" panose="020F0502020204030204" pitchFamily="34" charset="0"/>
              </a:rPr>
              <a:t>Key Markets: </a:t>
            </a:r>
            <a:r>
              <a:rPr lang="en-US" sz="1800">
                <a:latin typeface="Calibri" panose="020F0502020204030204" pitchFamily="34" charset="0"/>
                <a:ea typeface="Calibri" panose="020F0502020204030204" pitchFamily="34" charset="0"/>
                <a:cs typeface="Calibri" panose="020F0502020204030204" pitchFamily="34" charset="0"/>
              </a:rPr>
              <a:t>Bengaluru and Hyderabad lead sales. </a:t>
            </a:r>
          </a:p>
          <a:p>
            <a:pPr lvl="1"/>
            <a:r>
              <a:rPr lang="en-US" sz="1800" b="1">
                <a:latin typeface="Calibri" panose="020F0502020204030204" pitchFamily="34" charset="0"/>
                <a:ea typeface="Calibri" panose="020F0502020204030204" pitchFamily="34" charset="0"/>
                <a:cs typeface="Calibri" panose="020F0502020204030204" pitchFamily="34" charset="0"/>
              </a:rPr>
              <a:t>Sales Peaks</a:t>
            </a:r>
            <a:r>
              <a:rPr lang="en-US" sz="1800">
                <a:latin typeface="Calibri" panose="020F0502020204030204" pitchFamily="34" charset="0"/>
                <a:ea typeface="Calibri" panose="020F0502020204030204" pitchFamily="34" charset="0"/>
                <a:cs typeface="Calibri" panose="020F0502020204030204" pitchFamily="34" charset="0"/>
              </a:rPr>
              <a:t>: April was the highest revenue month; Sunday is the strongest sales day.</a:t>
            </a:r>
          </a:p>
          <a:p>
            <a:pPr lvl="1"/>
            <a:endParaRPr lang="en-US" sz="18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45795963"/>
      </p:ext>
    </p:extLst>
  </p:cSld>
  <p:clrMapOvr>
    <a:masterClrMapping/>
  </p:clrMapOvr>
  <mc:AlternateContent xmlns:mc="http://schemas.openxmlformats.org/markup-compatibility/2006">
    <mc:Choice xmlns:p14="http://schemas.microsoft.com/office/powerpoint/2010/main" Requires="p14">
      <p:transition spd="slow" p14:dur="2000" advTm="44712"/>
    </mc:Choice>
    <mc:Fallback>
      <p:transition spd="slow" advTm="44712"/>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207B083-EAC0-A5BB-C369-C9589EC7F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E2C4CB-AF72-8825-0B1B-A160388596E7}"/>
              </a:ext>
            </a:extLst>
          </p:cNvPr>
          <p:cNvSpPr>
            <a:spLocks noGrp="1"/>
          </p:cNvSpPr>
          <p:nvPr>
            <p:ph type="title"/>
          </p:nvPr>
        </p:nvSpPr>
        <p:spPr>
          <a:xfrm>
            <a:off x="614677" y="603504"/>
            <a:ext cx="10872216" cy="1051125"/>
          </a:xfrm>
        </p:spPr>
        <p:txBody>
          <a:bodyPr anchor="b">
            <a:normAutofit fontScale="90000"/>
          </a:bodyPr>
          <a:lstStyle/>
          <a:p>
            <a:r>
              <a:rPr lang="en-US" sz="4000" dirty="0">
                <a:latin typeface="Calibri" panose="020F0502020204030204" pitchFamily="34" charset="0"/>
                <a:ea typeface="Calibri" panose="020F0502020204030204" pitchFamily="34" charset="0"/>
                <a:cs typeface="Calibri" panose="020F0502020204030204" pitchFamily="34" charset="0"/>
              </a:rPr>
              <a:t>E-COMMERCE PERFORMANCE - RECOMMENDATIONS</a:t>
            </a:r>
          </a:p>
        </p:txBody>
      </p:sp>
      <p:pic>
        <p:nvPicPr>
          <p:cNvPr id="5" name="Picture 4" descr="A group of people running up a graph&#10;&#10;AI-generated content may be incorrect.">
            <a:extLst>
              <a:ext uri="{FF2B5EF4-FFF2-40B4-BE49-F238E27FC236}">
                <a16:creationId xmlns:a16="http://schemas.microsoft.com/office/drawing/2014/main" id="{FE01BBEF-26D4-16D2-633D-ED04800BFA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678" y="1915886"/>
            <a:ext cx="5173647" cy="3978797"/>
          </a:xfrm>
          <a:prstGeom prst="rect">
            <a:avLst/>
          </a:prstGeom>
        </p:spPr>
      </p:pic>
      <p:sp>
        <p:nvSpPr>
          <p:cNvPr id="3" name="Content Placeholder 2">
            <a:extLst>
              <a:ext uri="{FF2B5EF4-FFF2-40B4-BE49-F238E27FC236}">
                <a16:creationId xmlns:a16="http://schemas.microsoft.com/office/drawing/2014/main" id="{46CA2206-2DF6-CE43-04CD-A3D688D70B38}"/>
              </a:ext>
            </a:extLst>
          </p:cNvPr>
          <p:cNvSpPr>
            <a:spLocks noGrp="1"/>
          </p:cNvSpPr>
          <p:nvPr>
            <p:ph idx="1"/>
          </p:nvPr>
        </p:nvSpPr>
        <p:spPr>
          <a:xfrm>
            <a:off x="6096000" y="2024743"/>
            <a:ext cx="5385816" cy="3869940"/>
          </a:xfrm>
        </p:spPr>
        <p:txBody>
          <a:bodyPr anchor="t">
            <a:normAutofit/>
          </a:bodyPr>
          <a:lstStyle/>
          <a:p>
            <a:pPr marL="0" indent="0">
              <a:buNone/>
            </a:pPr>
            <a:r>
              <a:rPr lang="en-US" sz="1800" b="1" dirty="0">
                <a:latin typeface="Calibri" panose="020F0502020204030204" pitchFamily="34" charset="0"/>
                <a:ea typeface="Calibri" panose="020F0502020204030204" pitchFamily="34" charset="0"/>
                <a:cs typeface="Calibri" panose="020F0502020204030204" pitchFamily="34" charset="0"/>
              </a:rPr>
              <a:t>Focus Areas for Growth &amp; Efficiency </a:t>
            </a:r>
          </a:p>
          <a:p>
            <a:pPr lvl="1"/>
            <a:r>
              <a:rPr lang="en-US" sz="1800" b="1" dirty="0">
                <a:latin typeface="Calibri" panose="020F0502020204030204" pitchFamily="34" charset="0"/>
                <a:ea typeface="Calibri" panose="020F0502020204030204" pitchFamily="34" charset="0"/>
                <a:cs typeface="Calibri" panose="020F0502020204030204" pitchFamily="34" charset="0"/>
              </a:rPr>
              <a:t>High Cancellations: </a:t>
            </a:r>
            <a:r>
              <a:rPr lang="en-US" sz="1800" dirty="0">
                <a:latin typeface="Calibri" panose="020F0502020204030204" pitchFamily="34" charset="0"/>
                <a:ea typeface="Calibri" panose="020F0502020204030204" pitchFamily="34" charset="0"/>
                <a:cs typeface="Calibri" panose="020F0502020204030204" pitchFamily="34" charset="0"/>
              </a:rPr>
              <a:t>20K cancelled orders, especially in Maharashtra &amp; Karnataka. </a:t>
            </a:r>
          </a:p>
          <a:p>
            <a:pPr lvl="1"/>
            <a:r>
              <a:rPr lang="en-US" sz="1800" b="1" dirty="0">
                <a:latin typeface="Calibri" panose="020F0502020204030204" pitchFamily="34" charset="0"/>
                <a:ea typeface="Calibri" panose="020F0502020204030204" pitchFamily="34" charset="0"/>
                <a:cs typeface="Calibri" panose="020F0502020204030204" pitchFamily="34" charset="0"/>
              </a:rPr>
              <a:t>Revenue Decline: </a:t>
            </a:r>
            <a:r>
              <a:rPr lang="en-US" sz="1800" dirty="0">
                <a:latin typeface="Calibri" panose="020F0502020204030204" pitchFamily="34" charset="0"/>
                <a:ea typeface="Calibri" panose="020F0502020204030204" pitchFamily="34" charset="0"/>
                <a:cs typeface="Calibri" panose="020F0502020204030204" pitchFamily="34" charset="0"/>
              </a:rPr>
              <a:t>Revenue trending down since April peak. Sales Dip: Thursday is the weakest sales day. </a:t>
            </a:r>
          </a:p>
          <a:p>
            <a:pPr lvl="1"/>
            <a:r>
              <a:rPr lang="en-US" sz="1800" b="1" dirty="0">
                <a:latin typeface="Calibri" panose="020F0502020204030204" pitchFamily="34" charset="0"/>
                <a:ea typeface="Calibri" panose="020F0502020204030204" pitchFamily="34" charset="0"/>
                <a:cs typeface="Calibri" panose="020F0502020204030204" pitchFamily="34" charset="0"/>
              </a:rPr>
              <a:t>Category Concentration: </a:t>
            </a:r>
            <a:r>
              <a:rPr lang="en-US" sz="1800" dirty="0">
                <a:latin typeface="Calibri" panose="020F0502020204030204" pitchFamily="34" charset="0"/>
                <a:ea typeface="Calibri" panose="020F0502020204030204" pitchFamily="34" charset="0"/>
                <a:cs typeface="Calibri" panose="020F0502020204030204" pitchFamily="34" charset="0"/>
              </a:rPr>
              <a:t>"Set" &amp; "Kurta" drive over 76% of sales; others are minimal. </a:t>
            </a:r>
          </a:p>
          <a:p>
            <a:pPr lvl="1"/>
            <a:r>
              <a:rPr lang="en-US" sz="1800" b="1" dirty="0">
                <a:latin typeface="Calibri" panose="020F0502020204030204" pitchFamily="34" charset="0"/>
                <a:ea typeface="Calibri" panose="020F0502020204030204" pitchFamily="34" charset="0"/>
                <a:cs typeface="Calibri" panose="020F0502020204030204" pitchFamily="34" charset="0"/>
              </a:rPr>
              <a:t>Action: </a:t>
            </a:r>
            <a:r>
              <a:rPr lang="en-US" sz="1800" dirty="0">
                <a:latin typeface="Calibri" panose="020F0502020204030204" pitchFamily="34" charset="0"/>
                <a:ea typeface="Calibri" panose="020F0502020204030204" pitchFamily="34" charset="0"/>
                <a:cs typeface="Calibri" panose="020F0502020204030204" pitchFamily="34" charset="0"/>
              </a:rPr>
              <a:t>Address cancellations, revive revenue growth, optimize low-sales days, and refine category strategy.</a:t>
            </a:r>
          </a:p>
          <a:p>
            <a:pPr lvl="1"/>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39784141"/>
      </p:ext>
    </p:extLst>
  </p:cSld>
  <p:clrMapOvr>
    <a:masterClrMapping/>
  </p:clrMapOvr>
  <mc:AlternateContent xmlns:mc="http://schemas.openxmlformats.org/markup-compatibility/2006">
    <mc:Choice xmlns:p14="http://schemas.microsoft.com/office/powerpoint/2010/main" Requires="p14">
      <p:transition spd="slow" p14:dur="2000" advTm="51887"/>
    </mc:Choice>
    <mc:Fallback>
      <p:transition spd="slow" advTm="51887"/>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F36CA75-CFBF-4844-B719-8FE9EBADA9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3D4A84B9-E564-4DD0-97F8-DBF1C460C2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102382E0-0A09-46AE-B955-B911CAFE7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7DE75D4A-0965-4973-BE75-DECCAC9A9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6" name="Picture 25">
            <a:extLst>
              <a:ext uri="{FF2B5EF4-FFF2-40B4-BE49-F238E27FC236}">
                <a16:creationId xmlns:a16="http://schemas.microsoft.com/office/drawing/2014/main" id="{4A599609-F5C2-4A0B-A992-913F814A631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40000"/>
            <a:extLst>
              <a:ext uri="{28A0092B-C50C-407E-A947-70E740481C1C}">
                <a14:useLocalDpi xmlns:a14="http://schemas.microsoft.com/office/drawing/2010/main" val="0"/>
              </a:ext>
            </a:extLst>
          </a:blip>
          <a:stretch>
            <a:fillRect/>
          </a:stretch>
        </p:blipFill>
        <p:spPr>
          <a:xfrm>
            <a:off x="5414" y="0"/>
            <a:ext cx="12181172" cy="6858000"/>
          </a:xfrm>
          <a:prstGeom prst="rect">
            <a:avLst/>
          </a:prstGeom>
        </p:spPr>
      </p:pic>
      <p:pic>
        <p:nvPicPr>
          <p:cNvPr id="6" name="Picture 5" descr="A close-up of a person shaking hands&#10;&#10;AI-generated content may be incorrect.">
            <a:extLst>
              <a:ext uri="{FF2B5EF4-FFF2-40B4-BE49-F238E27FC236}">
                <a16:creationId xmlns:a16="http://schemas.microsoft.com/office/drawing/2014/main" id="{5DFF88C5-5183-E9F8-86FE-4852F0AADA7F}"/>
              </a:ext>
            </a:extLst>
          </p:cNvPr>
          <p:cNvPicPr>
            <a:picLocks noChangeAspect="1"/>
          </p:cNvPicPr>
          <p:nvPr/>
        </p:nvPicPr>
        <p:blipFill>
          <a:blip r:embed="rId4">
            <a:alphaModFix amt="60000"/>
            <a:extLst>
              <a:ext uri="{28A0092B-C50C-407E-A947-70E740481C1C}">
                <a14:useLocalDpi xmlns:a14="http://schemas.microsoft.com/office/drawing/2010/main" val="0"/>
              </a:ext>
            </a:extLst>
          </a:blip>
          <a:srcRect l="469"/>
          <a:stretch>
            <a:fillRect/>
          </a:stretch>
        </p:blipFill>
        <p:spPr>
          <a:xfrm>
            <a:off x="-2346" y="10"/>
            <a:ext cx="12188932" cy="6857990"/>
          </a:xfrm>
          <a:prstGeom prst="rect">
            <a:avLst/>
          </a:prstGeom>
        </p:spPr>
      </p:pic>
      <p:sp>
        <p:nvSpPr>
          <p:cNvPr id="3" name="Content Placeholder 2">
            <a:extLst>
              <a:ext uri="{FF2B5EF4-FFF2-40B4-BE49-F238E27FC236}">
                <a16:creationId xmlns:a16="http://schemas.microsoft.com/office/drawing/2014/main" id="{470A6581-7496-6B68-C5F9-CB1B60F536A7}"/>
              </a:ext>
            </a:extLst>
          </p:cNvPr>
          <p:cNvSpPr>
            <a:spLocks noGrp="1"/>
          </p:cNvSpPr>
          <p:nvPr>
            <p:ph idx="1"/>
          </p:nvPr>
        </p:nvSpPr>
        <p:spPr>
          <a:xfrm>
            <a:off x="5932714" y="5225143"/>
            <a:ext cx="6019799" cy="1317171"/>
          </a:xfrm>
        </p:spPr>
        <p:txBody>
          <a:bodyPr anchor="t">
            <a:normAutofit/>
          </a:bodyPr>
          <a:lstStyle/>
          <a:p>
            <a:pPr marL="0" indent="0" algn="ctr">
              <a:buNone/>
            </a:pPr>
            <a:endParaRPr lang="en-US" sz="1800" dirty="0">
              <a:highlight>
                <a:srgbClr val="FFFF00"/>
              </a:highlight>
            </a:endParaRPr>
          </a:p>
          <a:p>
            <a:pPr marL="0" indent="0" algn="ctr">
              <a:buNone/>
            </a:pPr>
            <a:r>
              <a:rPr lang="en-US" sz="1800" dirty="0">
                <a:highlight>
                  <a:srgbClr val="FFFF00"/>
                </a:highlight>
                <a:hlinkClick r:id="rId5">
                  <a:extLst>
                    <a:ext uri="{A12FA001-AC4F-418D-AE19-62706E023703}">
                      <ahyp:hlinkClr xmlns:ahyp="http://schemas.microsoft.com/office/drawing/2018/hyperlinkcolor" val="tx"/>
                    </a:ext>
                  </a:extLst>
                </a:hlinkClick>
              </a:rPr>
              <a:t>https://www.linkedin.com/in/navya-inguri-1371b3180/</a:t>
            </a:r>
            <a:endParaRPr lang="en-US" sz="1800" dirty="0">
              <a:highlight>
                <a:srgbClr val="FFFF00"/>
              </a:highlight>
            </a:endParaRPr>
          </a:p>
          <a:p>
            <a:pPr marL="0" indent="0" algn="ctr">
              <a:buNone/>
            </a:pPr>
            <a:r>
              <a:rPr lang="en-US" sz="1800" dirty="0">
                <a:highlight>
                  <a:srgbClr val="FFFF00"/>
                </a:highlight>
                <a:hlinkClick r:id="rId6">
                  <a:extLst>
                    <a:ext uri="{A12FA001-AC4F-418D-AE19-62706E023703}">
                      <ahyp:hlinkClr xmlns:ahyp="http://schemas.microsoft.com/office/drawing/2018/hyperlinkcolor" val="tx"/>
                    </a:ext>
                  </a:extLst>
                </a:hlinkClick>
              </a:rPr>
              <a:t>https://github.com/Navyasriinguri</a:t>
            </a:r>
            <a:endParaRPr lang="en-US" sz="1800" dirty="0">
              <a:highlight>
                <a:srgbClr val="FFFF00"/>
              </a:highlight>
            </a:endParaRPr>
          </a:p>
          <a:p>
            <a:pPr marL="0" indent="0" algn="ctr">
              <a:buNone/>
            </a:pPr>
            <a:endParaRPr lang="en-US" sz="1800" dirty="0">
              <a:solidFill>
                <a:srgbClr val="FFFFFF"/>
              </a:solidFill>
            </a:endParaRPr>
          </a:p>
        </p:txBody>
      </p:sp>
    </p:spTree>
    <p:extLst>
      <p:ext uri="{BB962C8B-B14F-4D97-AF65-F5344CB8AC3E}">
        <p14:creationId xmlns:p14="http://schemas.microsoft.com/office/powerpoint/2010/main" val="3996912081"/>
      </p:ext>
    </p:extLst>
  </p:cSld>
  <p:clrMapOvr>
    <a:masterClrMapping/>
  </p:clrMapOvr>
  <mc:AlternateContent xmlns:mc="http://schemas.openxmlformats.org/markup-compatibility/2006">
    <mc:Choice xmlns:p14="http://schemas.microsoft.com/office/powerpoint/2010/main" Requires="p14">
      <p:transition spd="slow" p14:dur="2000" advTm="13519"/>
    </mc:Choice>
    <mc:Fallback>
      <p:transition spd="slow" advTm="13519"/>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TM04033925[[fn=Droplet]]</Template>
  <TotalTime>1375</TotalTime>
  <Words>966</Words>
  <Application>Microsoft Office PowerPoint</Application>
  <PresentationFormat>Widescreen</PresentationFormat>
  <Paragraphs>90</Paragraphs>
  <Slides>14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Calibri</vt:lpstr>
      <vt:lpstr>Neue Haas Grotesk Text Pro</vt:lpstr>
      <vt:lpstr>Office Theme</vt:lpstr>
      <vt:lpstr>PowerPoint Presentation</vt:lpstr>
      <vt:lpstr>E-COMMERCE COMPANY’S  PATH TO SUSTAINABLE GROWTH</vt:lpstr>
      <vt:lpstr>PROBLEM STATEMENT</vt:lpstr>
      <vt:lpstr>PowerPoint Presentation</vt:lpstr>
      <vt:lpstr>KPI’s</vt:lpstr>
      <vt:lpstr>FULFILMENT AMAZON V/S MERCHANT</vt:lpstr>
      <vt:lpstr>SALES BY CATEGORY</vt:lpstr>
      <vt:lpstr>CANCELLED ORDER BY STATES</vt:lpstr>
      <vt:lpstr>TOP CITIES BY SALE</vt:lpstr>
      <vt:lpstr>REVENUE BY MONTH</vt:lpstr>
      <vt:lpstr>SALES BY WEEKDAY</vt:lpstr>
      <vt:lpstr>E-COMMERCE PERFORMANCE - STRENGTHS &amp; DRIVERS</vt:lpstr>
      <vt:lpstr>E-COMMERCE PERFORMANCE - RECOMMENDATIONS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Inguri, Navyasri</dc:creator>
  <cp:lastModifiedBy>Inguri, Navyasri</cp:lastModifiedBy>
  <cp:revision>16</cp:revision>
  <dcterms:created xsi:type="dcterms:W3CDTF">2025-07-05T11:37:29Z</dcterms:created>
  <dcterms:modified xsi:type="dcterms:W3CDTF">2025-07-12T15:30:17Z</dcterms:modified>
</cp:coreProperties>
</file>